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embeddedFontLst>
    <p:embeddedFont>
      <p:font typeface="Consolas" panose="020B0609020204030204" pitchFamily="49" charset="0"/>
      <p:regular r:id="rId12"/>
      <p:bold r:id="rId13"/>
      <p:italic r:id="rId14"/>
      <p:boldItalic r:id="rId15"/>
    </p:embeddedFont>
    <p:embeddedFont>
      <p:font typeface="Nunito Sans" pitchFamily="2" charset="0"/>
      <p:regular r:id="rId16"/>
      <p:bold r:id="rId17"/>
      <p:italic r:id="rId18"/>
    </p:embeddedFont>
    <p:embeddedFont>
      <p:font typeface="Nunito Sans Bold" charset="0"/>
      <p:bold r:id="rId19"/>
    </p:embeddedFont>
    <p:embeddedFont>
      <p:font typeface="Nunito Sans Light" pitchFamily="2" charset="0"/>
      <p:regular r:id="rId20"/>
      <p: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0" d="100"/>
          <a:sy n="70" d="100"/>
        </p:scale>
        <p:origin x="60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6899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6280188" y="925865"/>
            <a:ext cx="7556421" cy="1240155"/>
          </a:xfrm>
          <a:prstGeom prst="rect">
            <a:avLst/>
          </a:prstGeom>
          <a:noFill/>
          <a:ln/>
        </p:spPr>
        <p:txBody>
          <a:bodyPr wrap="square" lIns="0" tIns="0" rIns="0" bIns="0" rtlCol="0" anchor="t"/>
          <a:lstStyle/>
          <a:p>
            <a:pPr marL="0" indent="0" algn="l">
              <a:lnSpc>
                <a:spcPts val="4850"/>
              </a:lnSpc>
              <a:buNone/>
            </a:pPr>
            <a:r>
              <a:rPr lang="en-US" sz="3900" b="1" dirty="0">
                <a:solidFill>
                  <a:srgbClr val="000000"/>
                </a:solidFill>
                <a:latin typeface="Nunito Sans Bold" pitchFamily="34" charset="0"/>
                <a:ea typeface="Nunito Sans Bold" pitchFamily="34" charset="-122"/>
                <a:cs typeface="Nunito Sans Bold" pitchFamily="34" charset="-120"/>
              </a:rPr>
              <a:t>Hệ Thống Tìm Kiếm Văn Bản Pháp Luật với RAG</a:t>
            </a:r>
            <a:endParaRPr lang="en-US" sz="3900" dirty="0"/>
          </a:p>
        </p:txBody>
      </p:sp>
      <p:sp>
        <p:nvSpPr>
          <p:cNvPr id="4" name="Text 1"/>
          <p:cNvSpPr/>
          <p:nvPr/>
        </p:nvSpPr>
        <p:spPr>
          <a:xfrm>
            <a:off x="6280190" y="2547662"/>
            <a:ext cx="7556421"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Nunito Sans" pitchFamily="34" charset="0"/>
                <a:ea typeface="Nunito Sans" pitchFamily="34" charset="-122"/>
                <a:cs typeface="Nunito Sans" pitchFamily="34" charset="-120"/>
              </a:rPr>
              <a:t>Đồ án môn Trí tuệ nhân tạo - Ứng dụng Retrieval-Augmented Generation cho văn bản Luật Việt Nam</a:t>
            </a:r>
            <a:endParaRPr lang="en-US" sz="1550" dirty="0"/>
          </a:p>
        </p:txBody>
      </p:sp>
      <p:sp>
        <p:nvSpPr>
          <p:cNvPr id="2" name="Text 0">
            <a:extLst>
              <a:ext uri="{FF2B5EF4-FFF2-40B4-BE49-F238E27FC236}">
                <a16:creationId xmlns:a16="http://schemas.microsoft.com/office/drawing/2014/main" id="{092D217F-DD6D-1025-E323-6946BE605CD5}"/>
              </a:ext>
            </a:extLst>
          </p:cNvPr>
          <p:cNvSpPr/>
          <p:nvPr/>
        </p:nvSpPr>
        <p:spPr>
          <a:xfrm>
            <a:off x="6280189" y="4905476"/>
            <a:ext cx="7556421" cy="2695915"/>
          </a:xfrm>
          <a:prstGeom prst="rect">
            <a:avLst/>
          </a:prstGeom>
          <a:noFill/>
          <a:ln/>
        </p:spPr>
        <p:txBody>
          <a:bodyPr wrap="square" lIns="0" tIns="0" rIns="0" bIns="0" rtlCol="0" anchor="t"/>
          <a:lstStyle/>
          <a:p>
            <a:pPr marL="0" indent="0" algn="l">
              <a:lnSpc>
                <a:spcPts val="4850"/>
              </a:lnSpc>
              <a:buNone/>
            </a:pPr>
            <a:r>
              <a:rPr lang="en-US" dirty="0"/>
              <a:t> </a:t>
            </a:r>
            <a:endParaRPr lang="en-US" sz="1200" b="1" dirty="0">
              <a:solidFill>
                <a:srgbClr val="000000"/>
              </a:solidFill>
              <a:latin typeface="Nunito Sans Bold" pitchFamily="34" charset="0"/>
              <a:ea typeface="Nunito Sans Bold" pitchFamily="34" charset="-122"/>
              <a:cs typeface="Nunito Sans Bold" pitchFamily="34" charset="-120"/>
            </a:endParaRPr>
          </a:p>
          <a:p>
            <a:pPr marL="0" indent="0" algn="l">
              <a:lnSpc>
                <a:spcPts val="4850"/>
              </a:lnSpc>
              <a:buNone/>
            </a:pPr>
            <a:endParaRPr lang="en-US" sz="1200" b="1" dirty="0">
              <a:solidFill>
                <a:srgbClr val="000000"/>
              </a:solidFill>
              <a:latin typeface="Nunito Sans Bold" pitchFamily="34" charset="0"/>
              <a:ea typeface="Nunito Sans Bold" pitchFamily="34" charset="-122"/>
              <a:cs typeface="Nunito Sans Bold" pitchFamily="34" charset="-120"/>
            </a:endParaRPr>
          </a:p>
          <a:p>
            <a:pPr marL="0" indent="0" algn="l">
              <a:buNone/>
            </a:pPr>
            <a:endParaRPr lang="en-US" sz="1200" b="1" dirty="0">
              <a:solidFill>
                <a:srgbClr val="000000"/>
              </a:solidFill>
              <a:latin typeface="Nunito Sans Bold" pitchFamily="34" charset="0"/>
              <a:ea typeface="Nunito Sans Bold" pitchFamily="34" charset="-122"/>
              <a:cs typeface="Nunito Sans Bold" pitchFamily="34" charset="-120"/>
            </a:endParaRPr>
          </a:p>
          <a:p>
            <a:pPr marL="0" indent="0" algn="l">
              <a:lnSpc>
                <a:spcPts val="4850"/>
              </a:lnSpc>
              <a:buNone/>
            </a:pPr>
            <a:endParaRPr lang="en-US" sz="1200" b="1" dirty="0">
              <a:solidFill>
                <a:srgbClr val="000000"/>
              </a:solidFill>
              <a:latin typeface="Nunito Sans Bold" pitchFamily="34" charset="0"/>
              <a:ea typeface="Nunito Sans Bold" pitchFamily="34" charset="-122"/>
              <a:cs typeface="Nunito Sans Bold" pitchFamily="34" charset="-120"/>
            </a:endParaRPr>
          </a:p>
          <a:p>
            <a:pPr marL="0" indent="0" algn="l">
              <a:lnSpc>
                <a:spcPts val="4850"/>
              </a:lnSpc>
              <a:buNone/>
            </a:pPr>
            <a:endParaRPr lang="en-US" sz="1200" b="1" dirty="0">
              <a:solidFill>
                <a:srgbClr val="000000"/>
              </a:solidFill>
              <a:latin typeface="Nunito Sans Bold" pitchFamily="34" charset="0"/>
              <a:ea typeface="Nunito Sans Bold" pitchFamily="34" charset="-122"/>
              <a:cs typeface="Nunito Sans Bold" pitchFamily="34" charset="-120"/>
            </a:endParaRPr>
          </a:p>
          <a:p>
            <a:pPr marL="0" indent="0" algn="l">
              <a:lnSpc>
                <a:spcPts val="4850"/>
              </a:lnSpc>
              <a:buNone/>
            </a:pPr>
            <a:endParaRPr lang="en-US" sz="1200" dirty="0"/>
          </a:p>
        </p:txBody>
      </p:sp>
      <p:sp>
        <p:nvSpPr>
          <p:cNvPr id="9" name="TextBox 8">
            <a:extLst>
              <a:ext uri="{FF2B5EF4-FFF2-40B4-BE49-F238E27FC236}">
                <a16:creationId xmlns:a16="http://schemas.microsoft.com/office/drawing/2014/main" id="{943F961E-DCD9-5093-640D-D2E5768A13EB}"/>
              </a:ext>
            </a:extLst>
          </p:cNvPr>
          <p:cNvSpPr txBox="1"/>
          <p:nvPr/>
        </p:nvSpPr>
        <p:spPr>
          <a:xfrm>
            <a:off x="6280188" y="3504909"/>
            <a:ext cx="7315200" cy="4403128"/>
          </a:xfrm>
          <a:prstGeom prst="rect">
            <a:avLst/>
          </a:prstGeom>
          <a:noFill/>
        </p:spPr>
        <p:txBody>
          <a:bodyPr wrap="square">
            <a:spAutoFit/>
          </a:bodyPr>
          <a:lstStyle/>
          <a:p>
            <a:pPr marL="0" indent="0" algn="l">
              <a:lnSpc>
                <a:spcPts val="4850"/>
              </a:lnSpc>
              <a:buNone/>
            </a:pPr>
            <a:r>
              <a:rPr lang="en-US" b="1" dirty="0">
                <a:solidFill>
                  <a:srgbClr val="000000"/>
                </a:solidFill>
                <a:latin typeface="Nunito Sans" pitchFamily="2" charset="0"/>
                <a:ea typeface="Nunito Sans Bold" pitchFamily="34" charset="-122"/>
                <a:cs typeface="Times New Roman" panose="02020603050405020304" pitchFamily="18" charset="0"/>
              </a:rPr>
              <a:t>Thành </a:t>
            </a:r>
            <a:r>
              <a:rPr lang="en-US" b="1" dirty="0" err="1">
                <a:solidFill>
                  <a:srgbClr val="000000"/>
                </a:solidFill>
                <a:latin typeface="Nunito Sans" pitchFamily="2" charset="0"/>
                <a:ea typeface="Nunito Sans Bold" pitchFamily="34" charset="-122"/>
                <a:cs typeface="Times New Roman" panose="02020603050405020304" pitchFamily="18" charset="0"/>
              </a:rPr>
              <a:t>viên</a:t>
            </a:r>
            <a:r>
              <a:rPr lang="en-US" b="1" dirty="0">
                <a:solidFill>
                  <a:srgbClr val="000000"/>
                </a:solidFill>
                <a:latin typeface="Nunito Sans" pitchFamily="2" charset="0"/>
                <a:ea typeface="Nunito Sans Bold" pitchFamily="34" charset="-122"/>
                <a:cs typeface="Times New Roman" panose="02020603050405020304" pitchFamily="18" charset="0"/>
              </a:rPr>
              <a:t>:</a:t>
            </a:r>
          </a:p>
          <a:p>
            <a:pPr marL="0" indent="0" algn="l">
              <a:lnSpc>
                <a:spcPts val="4850"/>
              </a:lnSpc>
              <a:buNone/>
            </a:pPr>
            <a:r>
              <a:rPr lang="en-US" dirty="0">
                <a:solidFill>
                  <a:srgbClr val="000000"/>
                </a:solidFill>
                <a:latin typeface="Nunito Sans" pitchFamily="2" charset="0"/>
                <a:ea typeface="Nunito Sans Bold" pitchFamily="34" charset="-122"/>
                <a:cs typeface="Times New Roman" panose="02020603050405020304" pitchFamily="18" charset="0"/>
              </a:rPr>
              <a:t>Bùi Quang </a:t>
            </a:r>
            <a:r>
              <a:rPr lang="en-US" dirty="0" err="1">
                <a:solidFill>
                  <a:srgbClr val="000000"/>
                </a:solidFill>
                <a:latin typeface="Nunito Sans" pitchFamily="2" charset="0"/>
                <a:ea typeface="Nunito Sans Bold" pitchFamily="34" charset="-122"/>
                <a:cs typeface="Times New Roman" panose="02020603050405020304" pitchFamily="18" charset="0"/>
              </a:rPr>
              <a:t>Đán</a:t>
            </a:r>
            <a:r>
              <a:rPr lang="en-US" dirty="0">
                <a:solidFill>
                  <a:srgbClr val="000000"/>
                </a:solidFill>
                <a:latin typeface="Nunito Sans" pitchFamily="2" charset="0"/>
                <a:ea typeface="Nunito Sans Bold" pitchFamily="34" charset="-122"/>
                <a:cs typeface="Times New Roman" panose="02020603050405020304" pitchFamily="18" charset="0"/>
              </a:rPr>
              <a:t> – 25210007</a:t>
            </a:r>
          </a:p>
          <a:p>
            <a:pPr marL="0" indent="0" algn="l">
              <a:lnSpc>
                <a:spcPts val="4850"/>
              </a:lnSpc>
              <a:buNone/>
            </a:pPr>
            <a:r>
              <a:rPr lang="en-US" dirty="0">
                <a:solidFill>
                  <a:srgbClr val="000000"/>
                </a:solidFill>
                <a:latin typeface="Nunito Sans" pitchFamily="2" charset="0"/>
                <a:ea typeface="Nunito Sans Bold" pitchFamily="34" charset="-122"/>
                <a:cs typeface="Times New Roman" panose="02020603050405020304" pitchFamily="18" charset="0"/>
              </a:rPr>
              <a:t>Nguyễn Huỳnh Đạt – 25210009</a:t>
            </a:r>
          </a:p>
          <a:p>
            <a:pPr>
              <a:lnSpc>
                <a:spcPts val="4850"/>
              </a:lnSpc>
            </a:pPr>
            <a:r>
              <a:rPr lang="en-US" dirty="0" err="1">
                <a:solidFill>
                  <a:srgbClr val="000000"/>
                </a:solidFill>
                <a:latin typeface="Nunito Sans" pitchFamily="2" charset="0"/>
                <a:ea typeface="Nunito Sans Bold" pitchFamily="34" charset="-122"/>
                <a:cs typeface="Times New Roman" panose="02020603050405020304" pitchFamily="18" charset="0"/>
              </a:rPr>
              <a:t>Trần</a:t>
            </a:r>
            <a:r>
              <a:rPr lang="en-US" dirty="0">
                <a:solidFill>
                  <a:srgbClr val="000000"/>
                </a:solidFill>
                <a:latin typeface="Nunito Sans" pitchFamily="2" charset="0"/>
                <a:ea typeface="Nunito Sans Bold" pitchFamily="34" charset="-122"/>
                <a:cs typeface="Times New Roman" panose="02020603050405020304" pitchFamily="18" charset="0"/>
              </a:rPr>
              <a:t> Võ </a:t>
            </a:r>
            <a:r>
              <a:rPr lang="en-US" dirty="0" err="1">
                <a:solidFill>
                  <a:srgbClr val="000000"/>
                </a:solidFill>
                <a:latin typeface="Nunito Sans" pitchFamily="2" charset="0"/>
                <a:ea typeface="Nunito Sans Bold" pitchFamily="34" charset="-122"/>
                <a:cs typeface="Times New Roman" panose="02020603050405020304" pitchFamily="18" charset="0"/>
              </a:rPr>
              <a:t>Ngọc</a:t>
            </a:r>
            <a:r>
              <a:rPr lang="en-US" dirty="0">
                <a:solidFill>
                  <a:srgbClr val="000000"/>
                </a:solidFill>
                <a:latin typeface="Nunito Sans" pitchFamily="2" charset="0"/>
                <a:ea typeface="Nunito Sans Bold" pitchFamily="34" charset="-122"/>
                <a:cs typeface="Times New Roman" panose="02020603050405020304" pitchFamily="18" charset="0"/>
              </a:rPr>
              <a:t> Đạt – </a:t>
            </a:r>
            <a:r>
              <a:rPr lang="en-US" dirty="0">
                <a:latin typeface="Nunito Sans" pitchFamily="2" charset="0"/>
                <a:cs typeface="Times New Roman" panose="02020603050405020304" pitchFamily="18" charset="0"/>
              </a:rPr>
              <a:t>25210010</a:t>
            </a:r>
          </a:p>
          <a:p>
            <a:pPr>
              <a:lnSpc>
                <a:spcPts val="4850"/>
              </a:lnSpc>
            </a:pPr>
            <a:r>
              <a:rPr lang="en-US" dirty="0">
                <a:solidFill>
                  <a:srgbClr val="000000"/>
                </a:solidFill>
                <a:latin typeface="Nunito Sans" pitchFamily="2" charset="0"/>
                <a:ea typeface="Nunito Sans Bold" pitchFamily="34" charset="-122"/>
                <a:cs typeface="Times New Roman" panose="02020603050405020304" pitchFamily="18" charset="0"/>
              </a:rPr>
              <a:t>Nguyễn </a:t>
            </a:r>
            <a:r>
              <a:rPr lang="en-US">
                <a:solidFill>
                  <a:srgbClr val="000000"/>
                </a:solidFill>
                <a:latin typeface="Nunito Sans" pitchFamily="2" charset="0"/>
                <a:ea typeface="Nunito Sans Bold" pitchFamily="34" charset="-122"/>
                <a:cs typeface="Times New Roman" panose="02020603050405020304" pitchFamily="18" charset="0"/>
              </a:rPr>
              <a:t>Cao Nguyên - 25210025</a:t>
            </a:r>
            <a:endParaRPr lang="en-US" dirty="0">
              <a:solidFill>
                <a:srgbClr val="000000"/>
              </a:solidFill>
              <a:latin typeface="Nunito Sans" pitchFamily="2" charset="0"/>
              <a:ea typeface="Nunito Sans Bold" pitchFamily="34" charset="-122"/>
              <a:cs typeface="Times New Roman" panose="02020603050405020304" pitchFamily="18" charset="0"/>
            </a:endParaRPr>
          </a:p>
          <a:p>
            <a:pPr>
              <a:lnSpc>
                <a:spcPts val="4850"/>
              </a:lnSpc>
            </a:pPr>
            <a:r>
              <a:rPr lang="en-US" dirty="0">
                <a:latin typeface="Nunito Sans" pitchFamily="2" charset="0"/>
                <a:cs typeface="Times New Roman" panose="02020603050405020304" pitchFamily="18" charset="0"/>
              </a:rPr>
              <a:t>Võ Hoàng </a:t>
            </a:r>
            <a:r>
              <a:rPr lang="en-US" dirty="0" err="1">
                <a:latin typeface="Nunito Sans" pitchFamily="2" charset="0"/>
                <a:cs typeface="Times New Roman" panose="02020603050405020304" pitchFamily="18" charset="0"/>
              </a:rPr>
              <a:t>Lộc</a:t>
            </a:r>
            <a:r>
              <a:rPr lang="en-US" dirty="0">
                <a:latin typeface="Nunito Sans" pitchFamily="2" charset="0"/>
                <a:cs typeface="Times New Roman" panose="02020603050405020304" pitchFamily="18" charset="0"/>
              </a:rPr>
              <a:t> - 25730003</a:t>
            </a:r>
          </a:p>
          <a:p>
            <a:pPr>
              <a:lnSpc>
                <a:spcPts val="4850"/>
              </a:lnSpc>
            </a:pPr>
            <a:r>
              <a:rPr lang="en-US" dirty="0">
                <a:latin typeface="Nunito Sans" pitchFamily="2" charset="0"/>
                <a:cs typeface="Times New Roman" panose="02020603050405020304" pitchFamily="18" charset="0"/>
              </a:rPr>
              <a:t>Đặng </a:t>
            </a:r>
            <a:r>
              <a:rPr lang="en-US" dirty="0" err="1">
                <a:latin typeface="Nunito Sans" pitchFamily="2" charset="0"/>
                <a:cs typeface="Times New Roman" panose="02020603050405020304" pitchFamily="18" charset="0"/>
              </a:rPr>
              <a:t>Thị</a:t>
            </a:r>
            <a:r>
              <a:rPr lang="en-US" dirty="0">
                <a:latin typeface="Nunito Sans" pitchFamily="2" charset="0"/>
                <a:cs typeface="Times New Roman" panose="02020603050405020304" pitchFamily="18" charset="0"/>
              </a:rPr>
              <a:t> Phương Thảo - 25210037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967383"/>
            <a:ext cx="9269373"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Nunito Sans Bold" pitchFamily="34" charset="0"/>
                <a:ea typeface="Nunito Sans Bold" pitchFamily="34" charset="-122"/>
                <a:cs typeface="Nunito Sans Bold" pitchFamily="34" charset="-120"/>
              </a:rPr>
              <a:t>Phân Tích Bài Toán &amp; Xác Định Kỹ Thuật</a:t>
            </a:r>
            <a:endParaRPr lang="en-US" sz="3900" dirty="0"/>
          </a:p>
        </p:txBody>
      </p:sp>
      <p:sp>
        <p:nvSpPr>
          <p:cNvPr id="3" name="Text 1"/>
          <p:cNvSpPr/>
          <p:nvPr/>
        </p:nvSpPr>
        <p:spPr>
          <a:xfrm>
            <a:off x="793790" y="2083475"/>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Nunito Sans Bold" pitchFamily="34" charset="0"/>
                <a:ea typeface="Nunito Sans Bold" pitchFamily="34" charset="-122"/>
                <a:cs typeface="Nunito Sans Bold" pitchFamily="34" charset="-120"/>
              </a:rPr>
              <a:t>Input - Đầu Vào</a:t>
            </a:r>
            <a:endParaRPr lang="en-US" sz="2300" dirty="0"/>
          </a:p>
        </p:txBody>
      </p:sp>
      <p:sp>
        <p:nvSpPr>
          <p:cNvPr id="4" name="Text 2"/>
          <p:cNvSpPr/>
          <p:nvPr/>
        </p:nvSpPr>
        <p:spPr>
          <a:xfrm>
            <a:off x="793790" y="2653903"/>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000000"/>
                </a:solidFill>
                <a:latin typeface="Nunito Sans" pitchFamily="34" charset="0"/>
                <a:ea typeface="Nunito Sans" pitchFamily="34" charset="-122"/>
                <a:cs typeface="Nunito Sans" pitchFamily="34" charset="-120"/>
              </a:rPr>
              <a:t>Kho dữ liệu (Corpus)</a:t>
            </a:r>
            <a:r>
              <a:rPr lang="en-US" sz="1550" dirty="0">
                <a:solidFill>
                  <a:srgbClr val="000000"/>
                </a:solidFill>
                <a:latin typeface="Nunito Sans" pitchFamily="34" charset="0"/>
                <a:ea typeface="Nunito Sans" pitchFamily="34" charset="-122"/>
                <a:cs typeface="Nunito Sans" pitchFamily="34" charset="-120"/>
              </a:rPr>
              <a:t>: Văn bản Luật, Nghị định, Thông tư ở định dạng DOCX/PDF</a:t>
            </a:r>
            <a:endParaRPr lang="en-US" sz="1550" dirty="0"/>
          </a:p>
        </p:txBody>
      </p:sp>
      <p:sp>
        <p:nvSpPr>
          <p:cNvPr id="5" name="Text 3"/>
          <p:cNvSpPr/>
          <p:nvPr/>
        </p:nvSpPr>
        <p:spPr>
          <a:xfrm>
            <a:off x="793790" y="3358395"/>
            <a:ext cx="6279356" cy="704493"/>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000000"/>
                </a:solidFill>
                <a:latin typeface="Nunito Sans" pitchFamily="34" charset="0"/>
                <a:ea typeface="Nunito Sans" pitchFamily="34" charset="-122"/>
                <a:cs typeface="Nunito Sans" pitchFamily="34" charset="-120"/>
              </a:rPr>
              <a:t>Truy vấn người dùng</a:t>
            </a:r>
            <a:r>
              <a:rPr lang="en-US" sz="1550" dirty="0">
                <a:solidFill>
                  <a:srgbClr val="000000"/>
                </a:solidFill>
                <a:latin typeface="Nunito Sans" pitchFamily="34" charset="0"/>
                <a:ea typeface="Nunito Sans" pitchFamily="34" charset="-122"/>
                <a:cs typeface="Nunito Sans" pitchFamily="34" charset="-120"/>
              </a:rPr>
              <a:t>: Câu hỏi bằng ngôn ngữ tự nhiên </a:t>
            </a:r>
            <a:r>
              <a:rPr lang="en-US" sz="1550" dirty="0" err="1">
                <a:solidFill>
                  <a:srgbClr val="000000"/>
                </a:solidFill>
                <a:latin typeface="Nunito Sans" pitchFamily="34" charset="0"/>
                <a:ea typeface="Nunito Sans" pitchFamily="34" charset="-122"/>
                <a:cs typeface="Nunito Sans" pitchFamily="34" charset="-120"/>
              </a:rPr>
              <a:t>tiếng</a:t>
            </a:r>
            <a:r>
              <a:rPr lang="en-US" sz="1550" dirty="0">
                <a:solidFill>
                  <a:srgbClr val="000000"/>
                </a:solidFill>
                <a:latin typeface="Nunito Sans" pitchFamily="34" charset="0"/>
                <a:ea typeface="Nunito Sans" pitchFamily="34" charset="-122"/>
                <a:cs typeface="Nunito Sans" pitchFamily="34" charset="-120"/>
              </a:rPr>
              <a:t> Việt</a:t>
            </a:r>
          </a:p>
          <a:p>
            <a:pPr algn="l">
              <a:lnSpc>
                <a:spcPts val="2500"/>
              </a:lnSpc>
              <a:buSzPct val="100000"/>
            </a:pPr>
            <a:r>
              <a:rPr lang="en-US" sz="1550" dirty="0">
                <a:solidFill>
                  <a:srgbClr val="000000"/>
                </a:solidFill>
                <a:latin typeface="Nunito Sans" pitchFamily="34" charset="0"/>
                <a:ea typeface="Nunito Sans" pitchFamily="34" charset="-122"/>
                <a:cs typeface="Nunito Sans" pitchFamily="34" charset="-120"/>
              </a:rPr>
              <a:t>       </a:t>
            </a:r>
            <a:r>
              <a:rPr lang="en-US" sz="1550" dirty="0" err="1">
                <a:solidFill>
                  <a:srgbClr val="000000"/>
                </a:solidFill>
                <a:latin typeface="Nunito Sans" pitchFamily="34" charset="0"/>
                <a:ea typeface="Nunito Sans" pitchFamily="34" charset="-122"/>
                <a:cs typeface="Nunito Sans" pitchFamily="34" charset="-120"/>
              </a:rPr>
              <a:t>dưới</a:t>
            </a:r>
            <a:r>
              <a:rPr lang="en-US" sz="1550" dirty="0">
                <a:solidFill>
                  <a:srgbClr val="000000"/>
                </a:solidFill>
                <a:latin typeface="Nunito Sans" pitchFamily="34" charset="0"/>
                <a:ea typeface="Nunito Sans" pitchFamily="34" charset="-122"/>
                <a:cs typeface="Nunito Sans" pitchFamily="34" charset="-120"/>
              </a:rPr>
              <a:t> </a:t>
            </a:r>
            <a:r>
              <a:rPr lang="en-US" sz="1550" dirty="0" err="1">
                <a:solidFill>
                  <a:srgbClr val="000000"/>
                </a:solidFill>
                <a:latin typeface="Nunito Sans" pitchFamily="34" charset="0"/>
                <a:ea typeface="Nunito Sans" pitchFamily="34" charset="-122"/>
                <a:cs typeface="Nunito Sans" pitchFamily="34" charset="-120"/>
              </a:rPr>
              <a:t>dạng</a:t>
            </a:r>
            <a:r>
              <a:rPr lang="en-US" sz="1550" dirty="0">
                <a:solidFill>
                  <a:srgbClr val="000000"/>
                </a:solidFill>
                <a:latin typeface="Nunito Sans" pitchFamily="34" charset="0"/>
                <a:ea typeface="Nunito Sans" pitchFamily="34" charset="-122"/>
                <a:cs typeface="Nunito Sans" pitchFamily="34" charset="-120"/>
              </a:rPr>
              <a:t> </a:t>
            </a:r>
            <a:r>
              <a:rPr lang="en-US" sz="1550" dirty="0" err="1">
                <a:solidFill>
                  <a:srgbClr val="000000"/>
                </a:solidFill>
                <a:latin typeface="Nunito Sans" pitchFamily="34" charset="0"/>
                <a:ea typeface="Nunito Sans" pitchFamily="34" charset="-122"/>
                <a:cs typeface="Nunito Sans" pitchFamily="34" charset="-120"/>
              </a:rPr>
              <a:t>từ</a:t>
            </a:r>
            <a:r>
              <a:rPr lang="en-US" sz="1550" dirty="0">
                <a:solidFill>
                  <a:srgbClr val="000000"/>
                </a:solidFill>
                <a:latin typeface="Nunito Sans" pitchFamily="34" charset="0"/>
                <a:ea typeface="Nunito Sans" pitchFamily="34" charset="-122"/>
                <a:cs typeface="Nunito Sans" pitchFamily="34" charset="-120"/>
              </a:rPr>
              <a:t> </a:t>
            </a:r>
            <a:r>
              <a:rPr lang="en-US" sz="1550" dirty="0" err="1">
                <a:solidFill>
                  <a:srgbClr val="000000"/>
                </a:solidFill>
                <a:latin typeface="Nunito Sans" pitchFamily="34" charset="0"/>
                <a:ea typeface="Nunito Sans" pitchFamily="34" charset="-122"/>
                <a:cs typeface="Nunito Sans" pitchFamily="34" charset="-120"/>
              </a:rPr>
              <a:t>khóa</a:t>
            </a:r>
            <a:r>
              <a:rPr lang="en-US" sz="1550" dirty="0">
                <a:solidFill>
                  <a:srgbClr val="000000"/>
                </a:solidFill>
                <a:latin typeface="Nunito Sans" pitchFamily="34" charset="0"/>
                <a:ea typeface="Nunito Sans" pitchFamily="34" charset="-122"/>
                <a:cs typeface="Nunito Sans" pitchFamily="34" charset="-120"/>
              </a:rPr>
              <a:t> </a:t>
            </a:r>
            <a:r>
              <a:rPr lang="en-US" sz="1550" dirty="0" err="1">
                <a:solidFill>
                  <a:srgbClr val="000000"/>
                </a:solidFill>
                <a:latin typeface="Nunito Sans" pitchFamily="34" charset="0"/>
                <a:ea typeface="Nunito Sans" pitchFamily="34" charset="-122"/>
                <a:cs typeface="Nunito Sans" pitchFamily="34" charset="-120"/>
              </a:rPr>
              <a:t>hoặc</a:t>
            </a:r>
            <a:r>
              <a:rPr lang="en-US" sz="1550" dirty="0">
                <a:solidFill>
                  <a:srgbClr val="000000"/>
                </a:solidFill>
                <a:latin typeface="Nunito Sans" pitchFamily="34" charset="0"/>
                <a:ea typeface="Nunito Sans" pitchFamily="34" charset="-122"/>
                <a:cs typeface="Nunito Sans" pitchFamily="34" charset="-120"/>
              </a:rPr>
              <a:t> </a:t>
            </a:r>
            <a:r>
              <a:rPr lang="en-US" sz="1550" dirty="0" err="1">
                <a:solidFill>
                  <a:srgbClr val="000000"/>
                </a:solidFill>
                <a:latin typeface="Nunito Sans" pitchFamily="34" charset="0"/>
                <a:ea typeface="Nunito Sans" pitchFamily="34" charset="-122"/>
                <a:cs typeface="Nunito Sans" pitchFamily="34" charset="-120"/>
              </a:rPr>
              <a:t>câu</a:t>
            </a:r>
            <a:r>
              <a:rPr lang="en-US" sz="1550" dirty="0">
                <a:solidFill>
                  <a:srgbClr val="000000"/>
                </a:solidFill>
                <a:latin typeface="Nunito Sans" pitchFamily="34" charset="0"/>
                <a:ea typeface="Nunito Sans" pitchFamily="34" charset="-122"/>
                <a:cs typeface="Nunito Sans" pitchFamily="34" charset="-120"/>
              </a:rPr>
              <a:t> </a:t>
            </a:r>
            <a:r>
              <a:rPr lang="en-US" sz="1550" dirty="0" err="1">
                <a:solidFill>
                  <a:srgbClr val="000000"/>
                </a:solidFill>
                <a:latin typeface="Nunito Sans" pitchFamily="34" charset="0"/>
                <a:ea typeface="Nunito Sans" pitchFamily="34" charset="-122"/>
                <a:cs typeface="Nunito Sans" pitchFamily="34" charset="-120"/>
              </a:rPr>
              <a:t>truy</a:t>
            </a:r>
            <a:r>
              <a:rPr lang="en-US" sz="1550" dirty="0">
                <a:solidFill>
                  <a:srgbClr val="000000"/>
                </a:solidFill>
                <a:latin typeface="Nunito Sans" pitchFamily="34" charset="0"/>
                <a:ea typeface="Nunito Sans" pitchFamily="34" charset="-122"/>
                <a:cs typeface="Nunito Sans" pitchFamily="34" charset="-120"/>
              </a:rPr>
              <a:t> </a:t>
            </a:r>
            <a:r>
              <a:rPr lang="en-US" sz="1550" dirty="0" err="1">
                <a:solidFill>
                  <a:srgbClr val="000000"/>
                </a:solidFill>
                <a:latin typeface="Nunito Sans" pitchFamily="34" charset="0"/>
                <a:ea typeface="Nunito Sans" pitchFamily="34" charset="-122"/>
                <a:cs typeface="Nunito Sans" pitchFamily="34" charset="-120"/>
              </a:rPr>
              <a:t>vấn</a:t>
            </a:r>
            <a:r>
              <a:rPr lang="en-US" sz="1550" dirty="0">
                <a:solidFill>
                  <a:srgbClr val="000000"/>
                </a:solidFill>
                <a:latin typeface="Nunito Sans" pitchFamily="34" charset="0"/>
                <a:ea typeface="Nunito Sans" pitchFamily="34" charset="-122"/>
                <a:cs typeface="Nunito Sans" pitchFamily="34" charset="-120"/>
              </a:rPr>
              <a:t> </a:t>
            </a:r>
            <a:r>
              <a:rPr lang="en-US" sz="1550" dirty="0" err="1">
                <a:solidFill>
                  <a:srgbClr val="000000"/>
                </a:solidFill>
                <a:latin typeface="Nunito Sans" pitchFamily="34" charset="0"/>
                <a:ea typeface="Nunito Sans" pitchFamily="34" charset="-122"/>
                <a:cs typeface="Nunito Sans" pitchFamily="34" charset="-120"/>
              </a:rPr>
              <a:t>tìm</a:t>
            </a:r>
            <a:r>
              <a:rPr lang="en-US" sz="1550" dirty="0">
                <a:solidFill>
                  <a:srgbClr val="000000"/>
                </a:solidFill>
                <a:latin typeface="Nunito Sans" pitchFamily="34" charset="0"/>
                <a:ea typeface="Nunito Sans" pitchFamily="34" charset="-122"/>
                <a:cs typeface="Nunito Sans" pitchFamily="34" charset="-120"/>
              </a:rPr>
              <a:t> </a:t>
            </a:r>
            <a:r>
              <a:rPr lang="en-US" sz="1550" dirty="0" err="1">
                <a:solidFill>
                  <a:srgbClr val="000000"/>
                </a:solidFill>
                <a:latin typeface="Nunito Sans" pitchFamily="34" charset="0"/>
                <a:ea typeface="Nunito Sans" pitchFamily="34" charset="-122"/>
                <a:cs typeface="Nunito Sans" pitchFamily="34" charset="-120"/>
              </a:rPr>
              <a:t>hiểu</a:t>
            </a:r>
            <a:endParaRPr lang="en-US" sz="1550" dirty="0">
              <a:solidFill>
                <a:srgbClr val="000000"/>
              </a:solidFill>
              <a:latin typeface="Nunito Sans" pitchFamily="34" charset="0"/>
              <a:ea typeface="Nunito Sans" pitchFamily="34" charset="-122"/>
              <a:cs typeface="Nunito Sans" pitchFamily="34" charset="-120"/>
            </a:endParaRPr>
          </a:p>
          <a:p>
            <a:pPr marL="342900" indent="-342900" algn="l">
              <a:lnSpc>
                <a:spcPts val="2500"/>
              </a:lnSpc>
              <a:buSzPct val="100000"/>
              <a:buChar char="•"/>
            </a:pPr>
            <a:endParaRPr lang="en-US" sz="1550" dirty="0"/>
          </a:p>
        </p:txBody>
      </p:sp>
      <p:sp>
        <p:nvSpPr>
          <p:cNvPr id="6" name="Text 4"/>
          <p:cNvSpPr/>
          <p:nvPr/>
        </p:nvSpPr>
        <p:spPr>
          <a:xfrm>
            <a:off x="786170" y="3939369"/>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000000"/>
                </a:solidFill>
                <a:latin typeface="Nunito Sans" pitchFamily="34" charset="0"/>
                <a:ea typeface="Nunito Sans" pitchFamily="34" charset="-122"/>
                <a:cs typeface="Nunito Sans" pitchFamily="34" charset="-120"/>
              </a:rPr>
              <a:t>Ví dụ</a:t>
            </a:r>
            <a:r>
              <a:rPr lang="en-US" sz="1550" dirty="0">
                <a:solidFill>
                  <a:srgbClr val="000000"/>
                </a:solidFill>
                <a:latin typeface="Nunito Sans" pitchFamily="34" charset="0"/>
                <a:ea typeface="Nunito Sans" pitchFamily="34" charset="-122"/>
                <a:cs typeface="Nunito Sans" pitchFamily="34" charset="-120"/>
              </a:rPr>
              <a:t>: "Đối tượng đóng bảo hiểm y tế là ai?"</a:t>
            </a:r>
            <a:endParaRPr lang="en-US" sz="1550" dirty="0"/>
          </a:p>
        </p:txBody>
      </p:sp>
      <p:sp>
        <p:nvSpPr>
          <p:cNvPr id="7" name="Text 5"/>
          <p:cNvSpPr/>
          <p:nvPr/>
        </p:nvSpPr>
        <p:spPr>
          <a:xfrm>
            <a:off x="793790" y="4588431"/>
            <a:ext cx="4002524"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Nunito Sans Bold" pitchFamily="34" charset="0"/>
                <a:ea typeface="Nunito Sans Bold" pitchFamily="34" charset="-122"/>
                <a:cs typeface="Nunito Sans Bold" pitchFamily="34" charset="-120"/>
              </a:rPr>
              <a:t>Output - Đầu Ra Mong Muốn</a:t>
            </a:r>
            <a:endParaRPr lang="en-US" sz="2300" dirty="0"/>
          </a:p>
        </p:txBody>
      </p:sp>
      <p:sp>
        <p:nvSpPr>
          <p:cNvPr id="8" name="Text 6"/>
          <p:cNvSpPr/>
          <p:nvPr/>
        </p:nvSpPr>
        <p:spPr>
          <a:xfrm>
            <a:off x="793790" y="5012358"/>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000000"/>
                </a:solidFill>
                <a:latin typeface="Nunito Sans" pitchFamily="34" charset="0"/>
                <a:ea typeface="Nunito Sans" pitchFamily="34" charset="-122"/>
                <a:cs typeface="Nunito Sans" pitchFamily="34" charset="-120"/>
              </a:rPr>
              <a:t>Trả về </a:t>
            </a:r>
            <a:r>
              <a:rPr lang="en-US" sz="1550" b="1" dirty="0">
                <a:solidFill>
                  <a:srgbClr val="000000"/>
                </a:solidFill>
                <a:latin typeface="Nunito Sans" pitchFamily="34" charset="0"/>
                <a:ea typeface="Nunito Sans" pitchFamily="34" charset="-122"/>
                <a:cs typeface="Nunito Sans" pitchFamily="34" charset="-120"/>
              </a:rPr>
              <a:t>chính xác</a:t>
            </a:r>
            <a:r>
              <a:rPr lang="en-US" sz="1550" dirty="0">
                <a:solidFill>
                  <a:srgbClr val="000000"/>
                </a:solidFill>
                <a:latin typeface="Nunito Sans" pitchFamily="34" charset="0"/>
                <a:ea typeface="Nunito Sans" pitchFamily="34" charset="-122"/>
                <a:cs typeface="Nunito Sans" pitchFamily="34" charset="-120"/>
              </a:rPr>
              <a:t> Điều/Khoản/Điểm chứa câu trả lời</a:t>
            </a:r>
            <a:endParaRPr lang="en-US" sz="1550" dirty="0"/>
          </a:p>
        </p:txBody>
      </p:sp>
      <p:sp>
        <p:nvSpPr>
          <p:cNvPr id="9" name="Text 7"/>
          <p:cNvSpPr/>
          <p:nvPr/>
        </p:nvSpPr>
        <p:spPr>
          <a:xfrm>
            <a:off x="793790" y="5376545"/>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000000"/>
                </a:solidFill>
                <a:latin typeface="Nunito Sans" pitchFamily="34" charset="0"/>
                <a:ea typeface="Nunito Sans" pitchFamily="34" charset="-122"/>
                <a:cs typeface="Nunito Sans" pitchFamily="34" charset="-120"/>
              </a:rPr>
              <a:t>Không trả về toàn bộ văn bản dài (gây nhiễu thông tin)</a:t>
            </a:r>
            <a:endParaRPr lang="en-US" sz="1550" dirty="0"/>
          </a:p>
        </p:txBody>
      </p:sp>
      <p:sp>
        <p:nvSpPr>
          <p:cNvPr id="10" name="Text 8"/>
          <p:cNvSpPr/>
          <p:nvPr/>
        </p:nvSpPr>
        <p:spPr>
          <a:xfrm>
            <a:off x="786170" y="5740733"/>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000000"/>
                </a:solidFill>
                <a:latin typeface="Nunito Sans" pitchFamily="34" charset="0"/>
                <a:ea typeface="Nunito Sans" pitchFamily="34" charset="-122"/>
                <a:cs typeface="Nunito Sans" pitchFamily="34" charset="-120"/>
              </a:rPr>
              <a:t>Độ chính xác cao, phù hợp với ngữ cảnh pháp luật</a:t>
            </a:r>
            <a:endParaRPr lang="en-US" sz="1550" dirty="0"/>
          </a:p>
        </p:txBody>
      </p:sp>
      <p:sp>
        <p:nvSpPr>
          <p:cNvPr id="11" name="Text 9"/>
          <p:cNvSpPr/>
          <p:nvPr/>
        </p:nvSpPr>
        <p:spPr>
          <a:xfrm>
            <a:off x="7564874" y="2083475"/>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Nunito Sans Bold" pitchFamily="34" charset="0"/>
                <a:ea typeface="Nunito Sans Bold" pitchFamily="34" charset="-122"/>
                <a:cs typeface="Nunito Sans Bold" pitchFamily="34" charset="-120"/>
              </a:rPr>
              <a:t>Thách Thức Kỹ Thuật</a:t>
            </a:r>
            <a:endParaRPr lang="en-US" sz="2300" dirty="0"/>
          </a:p>
        </p:txBody>
      </p:sp>
      <p:sp>
        <p:nvSpPr>
          <p:cNvPr id="12" name="Shape 10"/>
          <p:cNvSpPr/>
          <p:nvPr/>
        </p:nvSpPr>
        <p:spPr>
          <a:xfrm>
            <a:off x="7564874" y="2678787"/>
            <a:ext cx="6279356" cy="843201"/>
          </a:xfrm>
          <a:prstGeom prst="roundRect">
            <a:avLst>
              <a:gd name="adj" fmla="val 9886"/>
            </a:avLst>
          </a:prstGeom>
          <a:solidFill>
            <a:srgbClr val="B7DDFB"/>
          </a:solidFill>
          <a:ln/>
        </p:spPr>
        <p:txBody>
          <a:bodyPr/>
          <a:lstStyle/>
          <a:p>
            <a:endParaRPr lang="en-US"/>
          </a:p>
        </p:txBody>
      </p:sp>
      <p:pic>
        <p:nvPicPr>
          <p:cNvPr id="13" name="Image 0" descr="preencoded.png"/>
          <p:cNvPicPr>
            <a:picLocks noChangeAspect="1"/>
          </p:cNvPicPr>
          <p:nvPr/>
        </p:nvPicPr>
        <p:blipFill>
          <a:blip r:embed="rId3"/>
          <a:stretch>
            <a:fillRect/>
          </a:stretch>
        </p:blipFill>
        <p:spPr>
          <a:xfrm>
            <a:off x="7763232" y="2974062"/>
            <a:ext cx="248007" cy="198358"/>
          </a:xfrm>
          <a:prstGeom prst="rect">
            <a:avLst/>
          </a:prstGeom>
        </p:spPr>
      </p:pic>
      <p:sp>
        <p:nvSpPr>
          <p:cNvPr id="14" name="Text 11"/>
          <p:cNvSpPr/>
          <p:nvPr/>
        </p:nvSpPr>
        <p:spPr>
          <a:xfrm>
            <a:off x="8209598" y="2926675"/>
            <a:ext cx="5436275" cy="317540"/>
          </a:xfrm>
          <a:prstGeom prst="rect">
            <a:avLst/>
          </a:prstGeom>
          <a:noFill/>
          <a:ln/>
        </p:spPr>
        <p:txBody>
          <a:bodyPr wrap="none" lIns="0" tIns="0" rIns="0" bIns="0" rtlCol="0" anchor="t"/>
          <a:lstStyle/>
          <a:p>
            <a:pPr marL="0" indent="0" algn="l">
              <a:lnSpc>
                <a:spcPts val="2500"/>
              </a:lnSpc>
              <a:buNone/>
            </a:pPr>
            <a:r>
              <a:rPr lang="en-US" sz="1550" b="1" dirty="0">
                <a:solidFill>
                  <a:srgbClr val="000000"/>
                </a:solidFill>
                <a:latin typeface="Nunito Sans" pitchFamily="34" charset="0"/>
                <a:ea typeface="Nunito Sans" pitchFamily="34" charset="-122"/>
                <a:cs typeface="Nunito Sans" pitchFamily="34" charset="-120"/>
              </a:rPr>
              <a:t>Vấn đề 1:</a:t>
            </a:r>
            <a:r>
              <a:rPr lang="en-US" sz="1550" dirty="0">
                <a:solidFill>
                  <a:srgbClr val="000000"/>
                </a:solidFill>
                <a:latin typeface="Nunito Sans" pitchFamily="34" charset="0"/>
                <a:ea typeface="Nunito Sans" pitchFamily="34" charset="-122"/>
                <a:cs typeface="Nunito Sans" pitchFamily="34" charset="-120"/>
              </a:rPr>
              <a:t> Văn bản pháp luật rất dài và phức tạp về cấu trúc</a:t>
            </a:r>
            <a:endParaRPr lang="en-US" sz="1550" dirty="0"/>
          </a:p>
        </p:txBody>
      </p:sp>
      <p:sp>
        <p:nvSpPr>
          <p:cNvPr id="15" name="Shape 12"/>
          <p:cNvSpPr/>
          <p:nvPr/>
        </p:nvSpPr>
        <p:spPr>
          <a:xfrm>
            <a:off x="7564874" y="3745230"/>
            <a:ext cx="6279356" cy="843201"/>
          </a:xfrm>
          <a:prstGeom prst="roundRect">
            <a:avLst>
              <a:gd name="adj" fmla="val 9886"/>
            </a:avLst>
          </a:prstGeom>
          <a:solidFill>
            <a:srgbClr val="B7DDFB"/>
          </a:solidFill>
          <a:ln/>
        </p:spPr>
        <p:txBody>
          <a:bodyPr/>
          <a:lstStyle/>
          <a:p>
            <a:endParaRPr lang="en-US"/>
          </a:p>
        </p:txBody>
      </p:sp>
      <p:pic>
        <p:nvPicPr>
          <p:cNvPr id="16" name="Image 1" descr="preencoded.png"/>
          <p:cNvPicPr>
            <a:picLocks noChangeAspect="1"/>
          </p:cNvPicPr>
          <p:nvPr/>
        </p:nvPicPr>
        <p:blipFill>
          <a:blip r:embed="rId3"/>
          <a:stretch>
            <a:fillRect/>
          </a:stretch>
        </p:blipFill>
        <p:spPr>
          <a:xfrm>
            <a:off x="7763232" y="4040505"/>
            <a:ext cx="248007" cy="198358"/>
          </a:xfrm>
          <a:prstGeom prst="rect">
            <a:avLst/>
          </a:prstGeom>
        </p:spPr>
      </p:pic>
      <p:sp>
        <p:nvSpPr>
          <p:cNvPr id="17" name="Text 13"/>
          <p:cNvSpPr/>
          <p:nvPr/>
        </p:nvSpPr>
        <p:spPr>
          <a:xfrm>
            <a:off x="8209598" y="3993118"/>
            <a:ext cx="5436275" cy="317540"/>
          </a:xfrm>
          <a:prstGeom prst="rect">
            <a:avLst/>
          </a:prstGeom>
          <a:noFill/>
          <a:ln/>
        </p:spPr>
        <p:txBody>
          <a:bodyPr wrap="none" lIns="0" tIns="0" rIns="0" bIns="0" rtlCol="0" anchor="t"/>
          <a:lstStyle/>
          <a:p>
            <a:pPr marL="0" indent="0" algn="l">
              <a:lnSpc>
                <a:spcPts val="2500"/>
              </a:lnSpc>
              <a:buNone/>
            </a:pPr>
            <a:r>
              <a:rPr lang="en-US" sz="1550" b="1" dirty="0">
                <a:solidFill>
                  <a:srgbClr val="000000"/>
                </a:solidFill>
                <a:latin typeface="Nunito Sans" pitchFamily="34" charset="0"/>
                <a:ea typeface="Nunito Sans" pitchFamily="34" charset="-122"/>
                <a:cs typeface="Nunito Sans" pitchFamily="34" charset="-120"/>
              </a:rPr>
              <a:t>Vấn đề 2:</a:t>
            </a:r>
            <a:r>
              <a:rPr lang="en-US" sz="1550" dirty="0">
                <a:solidFill>
                  <a:srgbClr val="000000"/>
                </a:solidFill>
                <a:latin typeface="Nunito Sans" pitchFamily="34" charset="0"/>
                <a:ea typeface="Nunito Sans" pitchFamily="34" charset="-122"/>
                <a:cs typeface="Nunito Sans" pitchFamily="34" charset="-120"/>
              </a:rPr>
              <a:t> Cần hiểu ngữ nghĩa tiếng Việt chuyên ngành</a:t>
            </a:r>
            <a:endParaRPr lang="en-US" sz="1550" dirty="0"/>
          </a:p>
        </p:txBody>
      </p:sp>
      <p:sp>
        <p:nvSpPr>
          <p:cNvPr id="18" name="Shape 14"/>
          <p:cNvSpPr/>
          <p:nvPr/>
        </p:nvSpPr>
        <p:spPr>
          <a:xfrm>
            <a:off x="7564874" y="4811673"/>
            <a:ext cx="6279356" cy="843201"/>
          </a:xfrm>
          <a:prstGeom prst="roundRect">
            <a:avLst>
              <a:gd name="adj" fmla="val 9886"/>
            </a:avLst>
          </a:prstGeom>
          <a:solidFill>
            <a:srgbClr val="B7DDFB"/>
          </a:solidFill>
          <a:ln/>
        </p:spPr>
        <p:txBody>
          <a:bodyPr/>
          <a:lstStyle/>
          <a:p>
            <a:endParaRPr lang="en-US"/>
          </a:p>
        </p:txBody>
      </p:sp>
      <p:pic>
        <p:nvPicPr>
          <p:cNvPr id="19" name="Image 2" descr="preencoded.png"/>
          <p:cNvPicPr>
            <a:picLocks noChangeAspect="1"/>
          </p:cNvPicPr>
          <p:nvPr/>
        </p:nvPicPr>
        <p:blipFill>
          <a:blip r:embed="rId3"/>
          <a:stretch>
            <a:fillRect/>
          </a:stretch>
        </p:blipFill>
        <p:spPr>
          <a:xfrm>
            <a:off x="7763232" y="5106948"/>
            <a:ext cx="248007" cy="198358"/>
          </a:xfrm>
          <a:prstGeom prst="rect">
            <a:avLst/>
          </a:prstGeom>
        </p:spPr>
      </p:pic>
      <p:sp>
        <p:nvSpPr>
          <p:cNvPr id="20" name="Text 15"/>
          <p:cNvSpPr/>
          <p:nvPr/>
        </p:nvSpPr>
        <p:spPr>
          <a:xfrm>
            <a:off x="8209598" y="5059561"/>
            <a:ext cx="5436275" cy="317540"/>
          </a:xfrm>
          <a:prstGeom prst="rect">
            <a:avLst/>
          </a:prstGeom>
          <a:noFill/>
          <a:ln/>
        </p:spPr>
        <p:txBody>
          <a:bodyPr wrap="none" lIns="0" tIns="0" rIns="0" bIns="0" rtlCol="0" anchor="t"/>
          <a:lstStyle/>
          <a:p>
            <a:pPr marL="0" indent="0" algn="l">
              <a:lnSpc>
                <a:spcPts val="2500"/>
              </a:lnSpc>
              <a:buNone/>
            </a:pPr>
            <a:r>
              <a:rPr lang="en-US" sz="1550" b="1" dirty="0">
                <a:solidFill>
                  <a:srgbClr val="000000"/>
                </a:solidFill>
                <a:latin typeface="Nunito Sans" pitchFamily="34" charset="0"/>
                <a:ea typeface="Nunito Sans" pitchFamily="34" charset="-122"/>
                <a:cs typeface="Nunito Sans" pitchFamily="34" charset="-120"/>
              </a:rPr>
              <a:t>Vấn đề 3:</a:t>
            </a:r>
            <a:r>
              <a:rPr lang="en-US" sz="1550" dirty="0">
                <a:solidFill>
                  <a:srgbClr val="000000"/>
                </a:solidFill>
                <a:latin typeface="Nunito Sans" pitchFamily="34" charset="0"/>
                <a:ea typeface="Nunito Sans" pitchFamily="34" charset="-122"/>
                <a:cs typeface="Nunito Sans" pitchFamily="34" charset="-120"/>
              </a:rPr>
              <a:t> Phải tìm kiếm nhanh trong hàng nghìn tài liệu</a:t>
            </a:r>
            <a:endParaRPr lang="en-US" sz="1550" dirty="0"/>
          </a:p>
        </p:txBody>
      </p:sp>
      <p:sp>
        <p:nvSpPr>
          <p:cNvPr id="21" name="Text 16"/>
          <p:cNvSpPr/>
          <p:nvPr/>
        </p:nvSpPr>
        <p:spPr>
          <a:xfrm>
            <a:off x="7564874" y="5878116"/>
            <a:ext cx="3129796"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Nunito Sans Bold" pitchFamily="34" charset="0"/>
                <a:ea typeface="Nunito Sans Bold" pitchFamily="34" charset="-122"/>
                <a:cs typeface="Nunito Sans Bold" pitchFamily="34" charset="-120"/>
              </a:rPr>
              <a:t>Giải Pháp: Hybrid RAG</a:t>
            </a:r>
            <a:endParaRPr lang="en-US" sz="2300" dirty="0"/>
          </a:p>
        </p:txBody>
      </p:sp>
      <p:sp>
        <p:nvSpPr>
          <p:cNvPr id="22" name="Text 17"/>
          <p:cNvSpPr/>
          <p:nvPr/>
        </p:nvSpPr>
        <p:spPr>
          <a:xfrm>
            <a:off x="7564874" y="6448544"/>
            <a:ext cx="6279356"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Nunito Sans" pitchFamily="34" charset="0"/>
                <a:ea typeface="Nunito Sans" pitchFamily="34" charset="-122"/>
                <a:cs typeface="Nunito Sans" pitchFamily="34" charset="-120"/>
              </a:rPr>
              <a:t>Kết hợp </a:t>
            </a:r>
            <a:r>
              <a:rPr lang="en-US" sz="1550" b="1" dirty="0">
                <a:solidFill>
                  <a:srgbClr val="0A5FA3"/>
                </a:solidFill>
                <a:latin typeface="Nunito Sans" pitchFamily="34" charset="0"/>
                <a:ea typeface="Nunito Sans" pitchFamily="34" charset="-122"/>
                <a:cs typeface="Nunito Sans" pitchFamily="34" charset="-120"/>
              </a:rPr>
              <a:t>Dense Retrieval</a:t>
            </a:r>
            <a:r>
              <a:rPr lang="en-US" sz="1550" dirty="0">
                <a:solidFill>
                  <a:srgbClr val="000000"/>
                </a:solidFill>
                <a:latin typeface="Nunito Sans" pitchFamily="34" charset="0"/>
                <a:ea typeface="Nunito Sans" pitchFamily="34" charset="-122"/>
                <a:cs typeface="Nunito Sans" pitchFamily="34" charset="-120"/>
              </a:rPr>
              <a:t> (ngữ nghĩa) + </a:t>
            </a:r>
            <a:r>
              <a:rPr lang="en-US" sz="1550" b="1" dirty="0">
                <a:solidFill>
                  <a:srgbClr val="70B603"/>
                </a:solidFill>
                <a:latin typeface="Nunito Sans" pitchFamily="34" charset="0"/>
                <a:ea typeface="Nunito Sans" pitchFamily="34" charset="-122"/>
                <a:cs typeface="Nunito Sans" pitchFamily="34" charset="-120"/>
              </a:rPr>
              <a:t>Sparse Retrieval</a:t>
            </a:r>
            <a:r>
              <a:rPr lang="en-US" sz="1550" dirty="0">
                <a:solidFill>
                  <a:srgbClr val="000000"/>
                </a:solidFill>
                <a:latin typeface="Nunito Sans" pitchFamily="34" charset="0"/>
                <a:ea typeface="Nunito Sans" pitchFamily="34" charset="-122"/>
                <a:cs typeface="Nunito Sans" pitchFamily="34" charset="-120"/>
              </a:rPr>
              <a:t> (từ khóa) để đạt độ chính xác tối ưu cho văn bản pháp luật.</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59381" y="522089"/>
            <a:ext cx="6130647" cy="593288"/>
          </a:xfrm>
          <a:prstGeom prst="rect">
            <a:avLst/>
          </a:prstGeom>
          <a:noFill/>
          <a:ln/>
        </p:spPr>
        <p:txBody>
          <a:bodyPr wrap="none" lIns="0" tIns="0" rIns="0" bIns="0" rtlCol="0" anchor="t"/>
          <a:lstStyle/>
          <a:p>
            <a:pPr marL="0" indent="0" algn="l">
              <a:lnSpc>
                <a:spcPts val="4650"/>
              </a:lnSpc>
              <a:buNone/>
            </a:pPr>
            <a:r>
              <a:rPr lang="en-US" sz="3700" b="1" dirty="0">
                <a:solidFill>
                  <a:srgbClr val="000000"/>
                </a:solidFill>
                <a:latin typeface="Nunito Sans Bold" pitchFamily="34" charset="0"/>
                <a:ea typeface="Nunito Sans Bold" pitchFamily="34" charset="-122"/>
                <a:cs typeface="Nunito Sans Bold" pitchFamily="34" charset="-120"/>
              </a:rPr>
              <a:t>Kiến Trúc Pipeline Tổng Thể</a:t>
            </a:r>
            <a:endParaRPr lang="en-US" sz="3700" dirty="0"/>
          </a:p>
        </p:txBody>
      </p:sp>
      <p:pic>
        <p:nvPicPr>
          <p:cNvPr id="3" name="Image 0" descr="preencoded.png"/>
          <p:cNvPicPr>
            <a:picLocks noChangeAspect="1"/>
          </p:cNvPicPr>
          <p:nvPr/>
        </p:nvPicPr>
        <p:blipFill>
          <a:blip r:embed="rId3"/>
          <a:stretch>
            <a:fillRect/>
          </a:stretch>
        </p:blipFill>
        <p:spPr>
          <a:xfrm>
            <a:off x="759381" y="1178226"/>
            <a:ext cx="949285" cy="1139071"/>
          </a:xfrm>
          <a:prstGeom prst="rect">
            <a:avLst/>
          </a:prstGeom>
        </p:spPr>
      </p:pic>
      <p:sp>
        <p:nvSpPr>
          <p:cNvPr id="4" name="Text 1"/>
          <p:cNvSpPr/>
          <p:nvPr/>
        </p:nvSpPr>
        <p:spPr>
          <a:xfrm>
            <a:off x="1898452" y="1229046"/>
            <a:ext cx="2373154" cy="296585"/>
          </a:xfrm>
          <a:prstGeom prst="rect">
            <a:avLst/>
          </a:prstGeom>
          <a:noFill/>
          <a:ln/>
        </p:spPr>
        <p:txBody>
          <a:bodyPr wrap="none" lIns="0" tIns="0" rIns="0" bIns="0" rtlCol="0" anchor="t"/>
          <a:lstStyle/>
          <a:p>
            <a:pPr marL="0" indent="0" algn="l">
              <a:lnSpc>
                <a:spcPts val="2300"/>
              </a:lnSpc>
              <a:buNone/>
            </a:pPr>
            <a:r>
              <a:rPr lang="en-US" sz="1850" b="1" dirty="0">
                <a:solidFill>
                  <a:srgbClr val="000000"/>
                </a:solidFill>
                <a:latin typeface="Nunito Sans Bold" pitchFamily="34" charset="0"/>
                <a:ea typeface="Nunito Sans Bold" pitchFamily="34" charset="-122"/>
                <a:cs typeface="Nunito Sans Bold" pitchFamily="34" charset="-120"/>
              </a:rPr>
              <a:t>Ingestion</a:t>
            </a:r>
            <a:endParaRPr lang="en-US" sz="1850" dirty="0"/>
          </a:p>
        </p:txBody>
      </p:sp>
      <p:sp>
        <p:nvSpPr>
          <p:cNvPr id="5" name="Text 2"/>
          <p:cNvSpPr/>
          <p:nvPr/>
        </p:nvSpPr>
        <p:spPr>
          <a:xfrm>
            <a:off x="1898451" y="1574378"/>
            <a:ext cx="11972568" cy="942232"/>
          </a:xfrm>
          <a:prstGeom prst="rect">
            <a:avLst/>
          </a:prstGeom>
          <a:noFill/>
          <a:ln/>
        </p:spPr>
        <p:txBody>
          <a:bodyPr wrap="none" lIns="0" tIns="0" rIns="0" bIns="0" rtlCol="0" anchor="t"/>
          <a:lstStyle/>
          <a:p>
            <a:pPr marL="0" indent="0" algn="l">
              <a:lnSpc>
                <a:spcPts val="2350"/>
              </a:lnSpc>
              <a:buNone/>
            </a:pPr>
            <a:r>
              <a:rPr lang="en-US" sz="1450" dirty="0">
                <a:solidFill>
                  <a:srgbClr val="000000"/>
                </a:solidFill>
                <a:latin typeface="Nunito Sans" pitchFamily="34" charset="0"/>
                <a:ea typeface="Nunito Sans" pitchFamily="34" charset="-122"/>
                <a:cs typeface="Nunito Sans" pitchFamily="34" charset="-120"/>
              </a:rPr>
              <a:t>Thu thập và tiền xử lý văn </a:t>
            </a:r>
            <a:r>
              <a:rPr lang="en-US" sz="1450" dirty="0" err="1">
                <a:solidFill>
                  <a:srgbClr val="000000"/>
                </a:solidFill>
                <a:latin typeface="Nunito Sans" pitchFamily="34" charset="0"/>
                <a:ea typeface="Nunito Sans" pitchFamily="34" charset="-122"/>
                <a:cs typeface="Nunito Sans" pitchFamily="34" charset="-120"/>
              </a:rPr>
              <a:t>bản</a:t>
            </a:r>
            <a:r>
              <a:rPr lang="en-US" sz="1450" dirty="0">
                <a:solidFill>
                  <a:srgbClr val="000000"/>
                </a:solidFill>
                <a:latin typeface="Nunito Sans" pitchFamily="34" charset="0"/>
                <a:ea typeface="Nunito Sans" pitchFamily="34" charset="-122"/>
                <a:cs typeface="Nunito Sans" pitchFamily="34" charset="-120"/>
              </a:rPr>
              <a:t> DOCX </a:t>
            </a:r>
            <a:r>
              <a:rPr lang="en-US" sz="1450" dirty="0" err="1">
                <a:solidFill>
                  <a:srgbClr val="000000"/>
                </a:solidFill>
                <a:latin typeface="Nunito Sans" pitchFamily="34" charset="0"/>
                <a:ea typeface="Nunito Sans" pitchFamily="34" charset="-122"/>
                <a:cs typeface="Nunito Sans" pitchFamily="34" charset="-120"/>
              </a:rPr>
              <a:t>từ</a:t>
            </a:r>
            <a:r>
              <a:rPr lang="en-US" sz="1450" dirty="0">
                <a:solidFill>
                  <a:srgbClr val="000000"/>
                </a:solidFill>
                <a:latin typeface="Nunito Sans" pitchFamily="34" charset="0"/>
                <a:ea typeface="Nunito Sans" pitchFamily="34" charset="-122"/>
                <a:cs typeface="Nunito Sans" pitchFamily="34" charset="-120"/>
              </a:rPr>
              <a:t> </a:t>
            </a:r>
          </a:p>
          <a:p>
            <a:pPr marL="0" indent="0" algn="l">
              <a:lnSpc>
                <a:spcPts val="2350"/>
              </a:lnSpc>
              <a:buNone/>
            </a:pPr>
            <a:r>
              <a:rPr lang="en-US" sz="1450" dirty="0" err="1">
                <a:solidFill>
                  <a:srgbClr val="000000"/>
                </a:solidFill>
                <a:latin typeface="Nunito Sans" pitchFamily="34" charset="0"/>
                <a:ea typeface="Nunito Sans" pitchFamily="34" charset="-122"/>
                <a:cs typeface="Nunito Sans" pitchFamily="34" charset="-120"/>
              </a:rPr>
              <a:t>kho</a:t>
            </a:r>
            <a:r>
              <a:rPr lang="en-US" sz="1450" dirty="0">
                <a:solidFill>
                  <a:srgbClr val="000000"/>
                </a:solidFill>
                <a:latin typeface="Nunito Sans" pitchFamily="34" charset="0"/>
                <a:ea typeface="Nunito Sans" pitchFamily="34" charset="-122"/>
                <a:cs typeface="Nunito Sans" pitchFamily="34" charset="-120"/>
              </a:rPr>
              <a:t> dữ liệu </a:t>
            </a:r>
            <a:r>
              <a:rPr lang="en-US" sz="1450" dirty="0" err="1">
                <a:solidFill>
                  <a:srgbClr val="000000"/>
                </a:solidFill>
                <a:latin typeface="Nunito Sans" pitchFamily="34" charset="0"/>
                <a:ea typeface="Nunito Sans" pitchFamily="34" charset="-122"/>
                <a:cs typeface="Nunito Sans" pitchFamily="34" charset="-120"/>
              </a:rPr>
              <a:t>pháp</a:t>
            </a:r>
            <a:r>
              <a:rPr lang="en-US" sz="1450" dirty="0">
                <a:solidFill>
                  <a:srgbClr val="000000"/>
                </a:solidFill>
                <a:latin typeface="Nunito Sans" pitchFamily="34" charset="0"/>
                <a:ea typeface="Nunito Sans" pitchFamily="34" charset="-122"/>
                <a:cs typeface="Nunito Sans" pitchFamily="34" charset="-120"/>
              </a:rPr>
              <a:t> </a:t>
            </a:r>
            <a:r>
              <a:rPr lang="en-US" sz="1450" dirty="0" err="1">
                <a:solidFill>
                  <a:srgbClr val="000000"/>
                </a:solidFill>
                <a:latin typeface="Nunito Sans" pitchFamily="34" charset="0"/>
                <a:ea typeface="Nunito Sans" pitchFamily="34" charset="-122"/>
                <a:cs typeface="Nunito Sans" pitchFamily="34" charset="-120"/>
              </a:rPr>
              <a:t>luật</a:t>
            </a:r>
            <a:r>
              <a:rPr lang="en-US" sz="1450" dirty="0">
                <a:solidFill>
                  <a:srgbClr val="000000"/>
                </a:solidFill>
                <a:latin typeface="Nunito Sans" pitchFamily="34" charset="0"/>
                <a:ea typeface="Nunito Sans" pitchFamily="34" charset="-122"/>
                <a:cs typeface="Nunito Sans" pitchFamily="34" charset="-120"/>
              </a:rPr>
              <a:t>.</a:t>
            </a:r>
          </a:p>
          <a:p>
            <a:pPr marL="0" indent="0" algn="l">
              <a:lnSpc>
                <a:spcPts val="2350"/>
              </a:lnSpc>
              <a:buNone/>
            </a:pPr>
            <a:r>
              <a:rPr lang="en-US" sz="1450" dirty="0">
                <a:solidFill>
                  <a:srgbClr val="000000"/>
                </a:solidFill>
                <a:latin typeface="Nunito Sans" pitchFamily="34" charset="0"/>
                <a:ea typeface="Nunito Sans" pitchFamily="34" charset="-122"/>
                <a:cs typeface="Nunito Sans" pitchFamily="34" charset="-120"/>
              </a:rPr>
              <a:t>Thu </a:t>
            </a:r>
            <a:r>
              <a:rPr lang="en-US" sz="1450" dirty="0" err="1">
                <a:solidFill>
                  <a:srgbClr val="000000"/>
                </a:solidFill>
                <a:latin typeface="Nunito Sans" pitchFamily="34" charset="0"/>
                <a:ea typeface="Nunito Sans" pitchFamily="34" charset="-122"/>
                <a:cs typeface="Nunito Sans" pitchFamily="34" charset="-120"/>
              </a:rPr>
              <a:t>thập</a:t>
            </a:r>
            <a:r>
              <a:rPr lang="en-US" sz="1450" dirty="0">
                <a:solidFill>
                  <a:srgbClr val="000000"/>
                </a:solidFill>
                <a:latin typeface="Nunito Sans" pitchFamily="34" charset="0"/>
                <a:ea typeface="Nunito Sans" pitchFamily="34" charset="-122"/>
                <a:cs typeface="Nunito Sans" pitchFamily="34" charset="-120"/>
              </a:rPr>
              <a:t> </a:t>
            </a:r>
            <a:r>
              <a:rPr lang="en-US" sz="1450" dirty="0" err="1">
                <a:solidFill>
                  <a:srgbClr val="000000"/>
                </a:solidFill>
                <a:latin typeface="Nunito Sans" pitchFamily="34" charset="0"/>
                <a:ea typeface="Nunito Sans" pitchFamily="34" charset="-122"/>
                <a:cs typeface="Nunito Sans" pitchFamily="34" charset="-120"/>
              </a:rPr>
              <a:t>các</a:t>
            </a:r>
            <a:r>
              <a:rPr lang="en-US" sz="1450" dirty="0">
                <a:solidFill>
                  <a:srgbClr val="000000"/>
                </a:solidFill>
                <a:latin typeface="Nunito Sans" pitchFamily="34" charset="0"/>
                <a:ea typeface="Nunito Sans" pitchFamily="34" charset="-122"/>
                <a:cs typeface="Nunito Sans" pitchFamily="34" charset="-120"/>
              </a:rPr>
              <a:t> </a:t>
            </a:r>
            <a:r>
              <a:rPr lang="en-US" sz="1450" dirty="0" err="1">
                <a:solidFill>
                  <a:srgbClr val="000000"/>
                </a:solidFill>
                <a:latin typeface="Nunito Sans" pitchFamily="34" charset="0"/>
                <a:ea typeface="Nunito Sans" pitchFamily="34" charset="-122"/>
                <a:cs typeface="Nunito Sans" pitchFamily="34" charset="-120"/>
              </a:rPr>
              <a:t>câu</a:t>
            </a:r>
            <a:r>
              <a:rPr lang="en-US" sz="1450" dirty="0">
                <a:solidFill>
                  <a:srgbClr val="000000"/>
                </a:solidFill>
                <a:latin typeface="Nunito Sans" pitchFamily="34" charset="0"/>
                <a:ea typeface="Nunito Sans" pitchFamily="34" charset="-122"/>
                <a:cs typeface="Nunito Sans" pitchFamily="34" charset="-120"/>
              </a:rPr>
              <a:t> </a:t>
            </a:r>
            <a:r>
              <a:rPr lang="en-US" sz="1450" dirty="0" err="1">
                <a:solidFill>
                  <a:srgbClr val="000000"/>
                </a:solidFill>
                <a:latin typeface="Nunito Sans" pitchFamily="34" charset="0"/>
                <a:ea typeface="Nunito Sans" pitchFamily="34" charset="-122"/>
                <a:cs typeface="Nunito Sans" pitchFamily="34" charset="-120"/>
              </a:rPr>
              <a:t>trả</a:t>
            </a:r>
            <a:r>
              <a:rPr lang="en-US" sz="1450" dirty="0">
                <a:solidFill>
                  <a:srgbClr val="000000"/>
                </a:solidFill>
                <a:latin typeface="Nunito Sans" pitchFamily="34" charset="0"/>
                <a:ea typeface="Nunito Sans" pitchFamily="34" charset="-122"/>
                <a:cs typeface="Nunito Sans" pitchFamily="34" charset="-120"/>
              </a:rPr>
              <a:t> </a:t>
            </a:r>
            <a:r>
              <a:rPr lang="en-US" sz="1450" dirty="0" err="1">
                <a:solidFill>
                  <a:srgbClr val="000000"/>
                </a:solidFill>
                <a:latin typeface="Nunito Sans" pitchFamily="34" charset="0"/>
                <a:ea typeface="Nunito Sans" pitchFamily="34" charset="-122"/>
                <a:cs typeface="Nunito Sans" pitchFamily="34" charset="-120"/>
              </a:rPr>
              <a:t>lời</a:t>
            </a:r>
            <a:r>
              <a:rPr lang="en-US" sz="1450" dirty="0">
                <a:solidFill>
                  <a:srgbClr val="000000"/>
                </a:solidFill>
                <a:latin typeface="Nunito Sans" pitchFamily="34" charset="0"/>
                <a:ea typeface="Nunito Sans" pitchFamily="34" charset="-122"/>
                <a:cs typeface="Nunito Sans" pitchFamily="34" charset="-120"/>
              </a:rPr>
              <a:t> </a:t>
            </a:r>
            <a:r>
              <a:rPr lang="en-US" sz="1450" dirty="0" err="1">
                <a:solidFill>
                  <a:srgbClr val="000000"/>
                </a:solidFill>
                <a:latin typeface="Nunito Sans" pitchFamily="34" charset="0"/>
                <a:ea typeface="Nunito Sans" pitchFamily="34" charset="-122"/>
                <a:cs typeface="Nunito Sans" pitchFamily="34" charset="-120"/>
              </a:rPr>
              <a:t>mẫu</a:t>
            </a:r>
            <a:r>
              <a:rPr lang="en-US" sz="1450" dirty="0">
                <a:solidFill>
                  <a:srgbClr val="000000"/>
                </a:solidFill>
                <a:latin typeface="Nunito Sans" pitchFamily="34" charset="0"/>
                <a:ea typeface="Nunito Sans" pitchFamily="34" charset="-122"/>
                <a:cs typeface="Nunito Sans" pitchFamily="34" charset="-120"/>
              </a:rPr>
              <a:t> </a:t>
            </a:r>
            <a:r>
              <a:rPr lang="en-US" sz="1450" dirty="0" err="1">
                <a:solidFill>
                  <a:srgbClr val="000000"/>
                </a:solidFill>
                <a:latin typeface="Nunito Sans" pitchFamily="34" charset="0"/>
                <a:ea typeface="Nunito Sans" pitchFamily="34" charset="-122"/>
                <a:cs typeface="Nunito Sans" pitchFamily="34" charset="-120"/>
              </a:rPr>
              <a:t>sẵn</a:t>
            </a:r>
            <a:r>
              <a:rPr lang="en-US" sz="1450" dirty="0">
                <a:solidFill>
                  <a:srgbClr val="000000"/>
                </a:solidFill>
                <a:latin typeface="Nunito Sans" pitchFamily="34" charset="0"/>
                <a:ea typeface="Nunito Sans" pitchFamily="34" charset="-122"/>
                <a:cs typeface="Nunito Sans" pitchFamily="34" charset="-120"/>
              </a:rPr>
              <a:t> (Q&amp;A) (JSON)</a:t>
            </a:r>
          </a:p>
          <a:p>
            <a:pPr marL="0" indent="0" algn="l">
              <a:lnSpc>
                <a:spcPts val="2350"/>
              </a:lnSpc>
              <a:buNone/>
            </a:pPr>
            <a:endParaRPr lang="en-US" sz="1450" dirty="0"/>
          </a:p>
        </p:txBody>
      </p:sp>
      <p:pic>
        <p:nvPicPr>
          <p:cNvPr id="6" name="Image 1" descr="preencoded.png"/>
          <p:cNvPicPr>
            <a:picLocks noChangeAspect="1"/>
          </p:cNvPicPr>
          <p:nvPr/>
        </p:nvPicPr>
        <p:blipFill>
          <a:blip r:embed="rId4"/>
          <a:stretch>
            <a:fillRect/>
          </a:stretch>
        </p:blipFill>
        <p:spPr>
          <a:xfrm>
            <a:off x="759381" y="2634139"/>
            <a:ext cx="949285" cy="1139071"/>
          </a:xfrm>
          <a:prstGeom prst="rect">
            <a:avLst/>
          </a:prstGeom>
        </p:spPr>
      </p:pic>
      <p:sp>
        <p:nvSpPr>
          <p:cNvPr id="7" name="Text 3"/>
          <p:cNvSpPr/>
          <p:nvPr/>
        </p:nvSpPr>
        <p:spPr>
          <a:xfrm>
            <a:off x="1898451" y="2659552"/>
            <a:ext cx="2373154" cy="296585"/>
          </a:xfrm>
          <a:prstGeom prst="rect">
            <a:avLst/>
          </a:prstGeom>
          <a:noFill/>
          <a:ln/>
        </p:spPr>
        <p:txBody>
          <a:bodyPr wrap="none" lIns="0" tIns="0" rIns="0" bIns="0" rtlCol="0" anchor="t"/>
          <a:lstStyle/>
          <a:p>
            <a:pPr marL="0" indent="0" algn="l">
              <a:lnSpc>
                <a:spcPts val="2300"/>
              </a:lnSpc>
              <a:buNone/>
            </a:pPr>
            <a:r>
              <a:rPr lang="en-US" sz="1850" b="1" dirty="0">
                <a:solidFill>
                  <a:srgbClr val="000000"/>
                </a:solidFill>
                <a:latin typeface="Nunito Sans Bold" pitchFamily="34" charset="0"/>
                <a:ea typeface="Nunito Sans Bold" pitchFamily="34" charset="-122"/>
                <a:cs typeface="Nunito Sans Bold" pitchFamily="34" charset="-120"/>
              </a:rPr>
              <a:t>Chunking</a:t>
            </a:r>
            <a:endParaRPr lang="en-US" sz="1850" dirty="0"/>
          </a:p>
        </p:txBody>
      </p:sp>
      <p:sp>
        <p:nvSpPr>
          <p:cNvPr id="8" name="Text 4"/>
          <p:cNvSpPr/>
          <p:nvPr/>
        </p:nvSpPr>
        <p:spPr>
          <a:xfrm>
            <a:off x="1898452" y="2994184"/>
            <a:ext cx="11972568" cy="303848"/>
          </a:xfrm>
          <a:prstGeom prst="rect">
            <a:avLst/>
          </a:prstGeom>
          <a:noFill/>
          <a:ln/>
        </p:spPr>
        <p:txBody>
          <a:bodyPr wrap="none" lIns="0" tIns="0" rIns="0" bIns="0" rtlCol="0" anchor="t"/>
          <a:lstStyle/>
          <a:p>
            <a:pPr marL="0" indent="0" algn="l">
              <a:lnSpc>
                <a:spcPts val="2350"/>
              </a:lnSpc>
              <a:buNone/>
            </a:pPr>
            <a:r>
              <a:rPr lang="en-US" sz="1450" dirty="0">
                <a:solidFill>
                  <a:srgbClr val="000000"/>
                </a:solidFill>
                <a:latin typeface="Nunito Sans" pitchFamily="34" charset="0"/>
                <a:ea typeface="Nunito Sans" pitchFamily="34" charset="-122"/>
                <a:cs typeface="Nunito Sans" pitchFamily="34" charset="-120"/>
              </a:rPr>
              <a:t>Chia nhỏ văn bản theo cấu trúc Điều-Khoản-Điểm</a:t>
            </a:r>
            <a:endParaRPr lang="en-US" sz="1450" dirty="0"/>
          </a:p>
        </p:txBody>
      </p:sp>
      <p:pic>
        <p:nvPicPr>
          <p:cNvPr id="9" name="Image 2" descr="preencoded.png"/>
          <p:cNvPicPr>
            <a:picLocks noChangeAspect="1"/>
          </p:cNvPicPr>
          <p:nvPr/>
        </p:nvPicPr>
        <p:blipFill>
          <a:blip r:embed="rId5"/>
          <a:stretch>
            <a:fillRect/>
          </a:stretch>
        </p:blipFill>
        <p:spPr>
          <a:xfrm>
            <a:off x="759381" y="3773210"/>
            <a:ext cx="949285" cy="1139071"/>
          </a:xfrm>
          <a:prstGeom prst="rect">
            <a:avLst/>
          </a:prstGeom>
        </p:spPr>
      </p:pic>
      <p:sp>
        <p:nvSpPr>
          <p:cNvPr id="10" name="Text 5"/>
          <p:cNvSpPr/>
          <p:nvPr/>
        </p:nvSpPr>
        <p:spPr>
          <a:xfrm>
            <a:off x="1898452" y="3962995"/>
            <a:ext cx="2373154" cy="296585"/>
          </a:xfrm>
          <a:prstGeom prst="rect">
            <a:avLst/>
          </a:prstGeom>
          <a:noFill/>
          <a:ln/>
        </p:spPr>
        <p:txBody>
          <a:bodyPr wrap="none" lIns="0" tIns="0" rIns="0" bIns="0" rtlCol="0" anchor="t"/>
          <a:lstStyle/>
          <a:p>
            <a:pPr marL="0" indent="0" algn="l">
              <a:lnSpc>
                <a:spcPts val="2300"/>
              </a:lnSpc>
              <a:buNone/>
            </a:pPr>
            <a:r>
              <a:rPr lang="en-US" sz="1850" b="1" dirty="0">
                <a:solidFill>
                  <a:srgbClr val="000000"/>
                </a:solidFill>
                <a:latin typeface="Nunito Sans Bold" pitchFamily="34" charset="0"/>
                <a:ea typeface="Nunito Sans Bold" pitchFamily="34" charset="-122"/>
                <a:cs typeface="Nunito Sans Bold" pitchFamily="34" charset="-120"/>
              </a:rPr>
              <a:t>Vectorization</a:t>
            </a:r>
            <a:endParaRPr lang="en-US" sz="1850" dirty="0"/>
          </a:p>
        </p:txBody>
      </p:sp>
      <p:sp>
        <p:nvSpPr>
          <p:cNvPr id="11" name="Text 6"/>
          <p:cNvSpPr/>
          <p:nvPr/>
        </p:nvSpPr>
        <p:spPr>
          <a:xfrm>
            <a:off x="1898452" y="4373404"/>
            <a:ext cx="3609719" cy="728662"/>
          </a:xfrm>
          <a:prstGeom prst="rect">
            <a:avLst/>
          </a:prstGeom>
          <a:noFill/>
          <a:ln/>
        </p:spPr>
        <p:txBody>
          <a:bodyPr wrap="none" lIns="0" tIns="0" rIns="0" bIns="0" rtlCol="0" anchor="t"/>
          <a:lstStyle/>
          <a:p>
            <a:pPr marL="0" indent="0" algn="l">
              <a:lnSpc>
                <a:spcPts val="2350"/>
              </a:lnSpc>
              <a:buNone/>
            </a:pPr>
            <a:r>
              <a:rPr lang="en-US" sz="1450" dirty="0">
                <a:solidFill>
                  <a:srgbClr val="000000"/>
                </a:solidFill>
                <a:latin typeface="Nunito Sans" pitchFamily="34" charset="0"/>
                <a:ea typeface="Nunito Sans" pitchFamily="34" charset="-122"/>
                <a:cs typeface="Nunito Sans" pitchFamily="34" charset="-120"/>
              </a:rPr>
              <a:t>Chuyển đổi sang Dense Vector (BKAI) </a:t>
            </a:r>
            <a:r>
              <a:rPr lang="en-US" sz="1450" dirty="0" err="1">
                <a:solidFill>
                  <a:srgbClr val="000000"/>
                </a:solidFill>
                <a:latin typeface="Nunito Sans" pitchFamily="34" charset="0"/>
                <a:ea typeface="Nunito Sans" pitchFamily="34" charset="-122"/>
                <a:cs typeface="Nunito Sans" pitchFamily="34" charset="-120"/>
              </a:rPr>
              <a:t>và</a:t>
            </a:r>
            <a:r>
              <a:rPr lang="en-US" sz="1450" dirty="0">
                <a:solidFill>
                  <a:srgbClr val="000000"/>
                </a:solidFill>
                <a:latin typeface="Nunito Sans" pitchFamily="34" charset="0"/>
                <a:ea typeface="Nunito Sans" pitchFamily="34" charset="-122"/>
                <a:cs typeface="Nunito Sans" pitchFamily="34" charset="-120"/>
              </a:rPr>
              <a:t> </a:t>
            </a:r>
          </a:p>
          <a:p>
            <a:pPr marL="0" indent="0" algn="l">
              <a:lnSpc>
                <a:spcPts val="2350"/>
              </a:lnSpc>
              <a:buNone/>
            </a:pPr>
            <a:r>
              <a:rPr lang="en-US" sz="1450" dirty="0">
                <a:solidFill>
                  <a:srgbClr val="000000"/>
                </a:solidFill>
                <a:latin typeface="Nunito Sans" pitchFamily="34" charset="0"/>
                <a:ea typeface="Nunito Sans" pitchFamily="34" charset="-122"/>
                <a:cs typeface="Nunito Sans" pitchFamily="34" charset="-120"/>
              </a:rPr>
              <a:t>Sparse Vector (BM25)</a:t>
            </a:r>
            <a:endParaRPr lang="en-US" sz="1450" dirty="0"/>
          </a:p>
        </p:txBody>
      </p:sp>
      <p:pic>
        <p:nvPicPr>
          <p:cNvPr id="12" name="Image 3" descr="preencoded.png"/>
          <p:cNvPicPr>
            <a:picLocks noChangeAspect="1"/>
          </p:cNvPicPr>
          <p:nvPr/>
        </p:nvPicPr>
        <p:blipFill>
          <a:blip r:embed="rId6"/>
          <a:stretch>
            <a:fillRect/>
          </a:stretch>
        </p:blipFill>
        <p:spPr>
          <a:xfrm>
            <a:off x="759381" y="4912281"/>
            <a:ext cx="949285" cy="1139071"/>
          </a:xfrm>
          <a:prstGeom prst="rect">
            <a:avLst/>
          </a:prstGeom>
        </p:spPr>
      </p:pic>
      <p:sp>
        <p:nvSpPr>
          <p:cNvPr id="13" name="Text 7"/>
          <p:cNvSpPr/>
          <p:nvPr/>
        </p:nvSpPr>
        <p:spPr>
          <a:xfrm>
            <a:off x="1898452" y="5102066"/>
            <a:ext cx="2373154" cy="296585"/>
          </a:xfrm>
          <a:prstGeom prst="rect">
            <a:avLst/>
          </a:prstGeom>
          <a:noFill/>
          <a:ln/>
        </p:spPr>
        <p:txBody>
          <a:bodyPr wrap="none" lIns="0" tIns="0" rIns="0" bIns="0" rtlCol="0" anchor="t"/>
          <a:lstStyle/>
          <a:p>
            <a:pPr marL="0" indent="0" algn="l">
              <a:lnSpc>
                <a:spcPts val="2300"/>
              </a:lnSpc>
              <a:buNone/>
            </a:pPr>
            <a:r>
              <a:rPr lang="en-US" sz="1850" b="1" dirty="0">
                <a:solidFill>
                  <a:srgbClr val="000000"/>
                </a:solidFill>
                <a:latin typeface="Nunito Sans Bold" pitchFamily="34" charset="0"/>
                <a:ea typeface="Nunito Sans Bold" pitchFamily="34" charset="-122"/>
                <a:cs typeface="Nunito Sans Bold" pitchFamily="34" charset="-120"/>
              </a:rPr>
              <a:t>Indexing</a:t>
            </a:r>
            <a:endParaRPr lang="en-US" sz="1850" dirty="0"/>
          </a:p>
        </p:txBody>
      </p:sp>
      <p:sp>
        <p:nvSpPr>
          <p:cNvPr id="14" name="Text 8"/>
          <p:cNvSpPr/>
          <p:nvPr/>
        </p:nvSpPr>
        <p:spPr>
          <a:xfrm>
            <a:off x="1898452" y="5497762"/>
            <a:ext cx="11972568" cy="303848"/>
          </a:xfrm>
          <a:prstGeom prst="rect">
            <a:avLst/>
          </a:prstGeom>
          <a:noFill/>
          <a:ln/>
        </p:spPr>
        <p:txBody>
          <a:bodyPr wrap="none" lIns="0" tIns="0" rIns="0" bIns="0" rtlCol="0" anchor="t"/>
          <a:lstStyle/>
          <a:p>
            <a:pPr marL="0" indent="0" algn="l">
              <a:lnSpc>
                <a:spcPts val="2350"/>
              </a:lnSpc>
              <a:buNone/>
            </a:pPr>
            <a:r>
              <a:rPr lang="en-US" sz="1450" dirty="0">
                <a:solidFill>
                  <a:srgbClr val="000000"/>
                </a:solidFill>
                <a:latin typeface="Nunito Sans" pitchFamily="34" charset="0"/>
                <a:ea typeface="Nunito Sans" pitchFamily="34" charset="-122"/>
                <a:cs typeface="Nunito Sans" pitchFamily="34" charset="-120"/>
              </a:rPr>
              <a:t>Lưu trữ vào Qdrant Vector Database</a:t>
            </a:r>
            <a:endParaRPr lang="en-US" sz="1450" dirty="0"/>
          </a:p>
        </p:txBody>
      </p:sp>
      <p:pic>
        <p:nvPicPr>
          <p:cNvPr id="15" name="Image 4" descr="preencoded.png"/>
          <p:cNvPicPr>
            <a:picLocks noChangeAspect="1"/>
          </p:cNvPicPr>
          <p:nvPr/>
        </p:nvPicPr>
        <p:blipFill>
          <a:blip r:embed="rId7"/>
          <a:stretch>
            <a:fillRect/>
          </a:stretch>
        </p:blipFill>
        <p:spPr>
          <a:xfrm>
            <a:off x="759381" y="6051352"/>
            <a:ext cx="949285" cy="1139071"/>
          </a:xfrm>
          <a:prstGeom prst="rect">
            <a:avLst/>
          </a:prstGeom>
        </p:spPr>
      </p:pic>
      <p:sp>
        <p:nvSpPr>
          <p:cNvPr id="16" name="Text 9"/>
          <p:cNvSpPr/>
          <p:nvPr/>
        </p:nvSpPr>
        <p:spPr>
          <a:xfrm>
            <a:off x="1898452" y="6241137"/>
            <a:ext cx="2373154" cy="296585"/>
          </a:xfrm>
          <a:prstGeom prst="rect">
            <a:avLst/>
          </a:prstGeom>
          <a:noFill/>
          <a:ln/>
        </p:spPr>
        <p:txBody>
          <a:bodyPr wrap="none" lIns="0" tIns="0" rIns="0" bIns="0" rtlCol="0" anchor="t"/>
          <a:lstStyle/>
          <a:p>
            <a:pPr marL="0" indent="0" algn="l">
              <a:lnSpc>
                <a:spcPts val="2300"/>
              </a:lnSpc>
              <a:buNone/>
            </a:pPr>
            <a:r>
              <a:rPr lang="en-US" sz="1850" b="1" dirty="0">
                <a:solidFill>
                  <a:srgbClr val="000000"/>
                </a:solidFill>
                <a:latin typeface="Nunito Sans Bold" pitchFamily="34" charset="0"/>
                <a:ea typeface="Nunito Sans Bold" pitchFamily="34" charset="-122"/>
                <a:cs typeface="Nunito Sans Bold" pitchFamily="34" charset="-120"/>
              </a:rPr>
              <a:t>Retrieval</a:t>
            </a:r>
            <a:endParaRPr lang="en-US" sz="1850" dirty="0"/>
          </a:p>
        </p:txBody>
      </p:sp>
      <p:sp>
        <p:nvSpPr>
          <p:cNvPr id="17" name="Text 10"/>
          <p:cNvSpPr/>
          <p:nvPr/>
        </p:nvSpPr>
        <p:spPr>
          <a:xfrm>
            <a:off x="1898452" y="6651546"/>
            <a:ext cx="11972568" cy="303848"/>
          </a:xfrm>
          <a:prstGeom prst="rect">
            <a:avLst/>
          </a:prstGeom>
          <a:noFill/>
          <a:ln/>
        </p:spPr>
        <p:txBody>
          <a:bodyPr wrap="none" lIns="0" tIns="0" rIns="0" bIns="0" rtlCol="0" anchor="t"/>
          <a:lstStyle/>
          <a:p>
            <a:pPr marL="0" indent="0" algn="l">
              <a:lnSpc>
                <a:spcPts val="2350"/>
              </a:lnSpc>
              <a:buNone/>
            </a:pPr>
            <a:r>
              <a:rPr lang="en-US" sz="1450" dirty="0">
                <a:solidFill>
                  <a:srgbClr val="000000"/>
                </a:solidFill>
                <a:latin typeface="Nunito Sans" pitchFamily="34" charset="0"/>
                <a:ea typeface="Nunito Sans" pitchFamily="34" charset="-122"/>
                <a:cs typeface="Nunito Sans" pitchFamily="34" charset="-120"/>
              </a:rPr>
              <a:t>Tìm kiếm song song với Dense &amp; Sparse, tổng hợp bằng RRF</a:t>
            </a:r>
            <a:endParaRPr lang="en-US" sz="1450" dirty="0"/>
          </a:p>
        </p:txBody>
      </p:sp>
      <p:sp>
        <p:nvSpPr>
          <p:cNvPr id="18" name="Text 11"/>
          <p:cNvSpPr/>
          <p:nvPr/>
        </p:nvSpPr>
        <p:spPr>
          <a:xfrm>
            <a:off x="759381" y="7403902"/>
            <a:ext cx="13111639" cy="303848"/>
          </a:xfrm>
          <a:prstGeom prst="rect">
            <a:avLst/>
          </a:prstGeom>
          <a:noFill/>
          <a:ln/>
        </p:spPr>
        <p:txBody>
          <a:bodyPr wrap="none" lIns="0" tIns="0" rIns="0" bIns="0" rtlCol="0" anchor="t"/>
          <a:lstStyle/>
          <a:p>
            <a:pPr marL="0" indent="0" algn="l">
              <a:lnSpc>
                <a:spcPts val="2350"/>
              </a:lnSpc>
              <a:buNone/>
            </a:pPr>
            <a:r>
              <a:rPr lang="en-US" sz="1450" dirty="0">
                <a:solidFill>
                  <a:srgbClr val="000000"/>
                </a:solidFill>
                <a:latin typeface="Nunito Sans" pitchFamily="34" charset="0"/>
                <a:ea typeface="Nunito Sans" pitchFamily="34" charset="-122"/>
                <a:cs typeface="Nunito Sans" pitchFamily="34" charset="-120"/>
              </a:rPr>
              <a:t>Pipeline được thiết kế theo kiến trúc </a:t>
            </a:r>
            <a:r>
              <a:rPr lang="en-US" sz="1450" b="1" dirty="0">
                <a:solidFill>
                  <a:srgbClr val="000000"/>
                </a:solidFill>
                <a:latin typeface="Nunito Sans" pitchFamily="34" charset="0"/>
                <a:ea typeface="Nunito Sans" pitchFamily="34" charset="-122"/>
                <a:cs typeface="Nunito Sans" pitchFamily="34" charset="-120"/>
              </a:rPr>
              <a:t>Offline-Online</a:t>
            </a:r>
            <a:r>
              <a:rPr lang="en-US" sz="1450" dirty="0">
                <a:solidFill>
                  <a:srgbClr val="000000"/>
                </a:solidFill>
                <a:latin typeface="Nunito Sans" pitchFamily="34" charset="0"/>
                <a:ea typeface="Nunito Sans" pitchFamily="34" charset="-122"/>
                <a:cs typeface="Nunito Sans" pitchFamily="34" charset="-120"/>
              </a:rPr>
              <a:t>: giai đoạn Ingestion-Indexing chạy một lần, còn Retrieval xử lý real-time mỗi khi có truy vấn.</a:t>
            </a:r>
            <a:endParaRPr lang="en-US" sz="1450" dirty="0"/>
          </a:p>
        </p:txBody>
      </p:sp>
      <p:pic>
        <p:nvPicPr>
          <p:cNvPr id="23" name="Picture 22">
            <a:extLst>
              <a:ext uri="{FF2B5EF4-FFF2-40B4-BE49-F238E27FC236}">
                <a16:creationId xmlns:a16="http://schemas.microsoft.com/office/drawing/2014/main" id="{1A9855AD-A288-E28A-9B33-0DA6ABD31340}"/>
              </a:ext>
            </a:extLst>
          </p:cNvPr>
          <p:cNvPicPr>
            <a:picLocks noChangeAspect="1"/>
          </p:cNvPicPr>
          <p:nvPr/>
        </p:nvPicPr>
        <p:blipFill>
          <a:blip r:embed="rId8"/>
          <a:stretch>
            <a:fillRect/>
          </a:stretch>
        </p:blipFill>
        <p:spPr>
          <a:xfrm>
            <a:off x="7587974" y="167869"/>
            <a:ext cx="6130646" cy="723603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9599" y="412194"/>
            <a:ext cx="6692741" cy="468511"/>
          </a:xfrm>
          <a:prstGeom prst="rect">
            <a:avLst/>
          </a:prstGeom>
          <a:noFill/>
          <a:ln/>
        </p:spPr>
        <p:txBody>
          <a:bodyPr wrap="none" lIns="0" tIns="0" rIns="0" bIns="0" rtlCol="0" anchor="t"/>
          <a:lstStyle/>
          <a:p>
            <a:pPr marL="0" indent="0" algn="l">
              <a:lnSpc>
                <a:spcPts val="3650"/>
              </a:lnSpc>
              <a:buNone/>
            </a:pPr>
            <a:r>
              <a:rPr lang="en-US" sz="2950" b="1" dirty="0">
                <a:solidFill>
                  <a:srgbClr val="000000"/>
                </a:solidFill>
                <a:latin typeface="Nunito Sans Bold" pitchFamily="34" charset="0"/>
                <a:ea typeface="Nunito Sans Bold" pitchFamily="34" charset="-122"/>
                <a:cs typeface="Nunito Sans Bold" pitchFamily="34" charset="-120"/>
              </a:rPr>
              <a:t>Kỹ Thuật Chunking - Chia Nhỏ Dữ Liệu</a:t>
            </a:r>
            <a:endParaRPr lang="en-US" sz="2950" dirty="0"/>
          </a:p>
        </p:txBody>
      </p:sp>
      <p:sp>
        <p:nvSpPr>
          <p:cNvPr id="4" name="Text 1"/>
          <p:cNvSpPr/>
          <p:nvPr/>
        </p:nvSpPr>
        <p:spPr>
          <a:xfrm>
            <a:off x="599599" y="6595705"/>
            <a:ext cx="2746296" cy="281107"/>
          </a:xfrm>
          <a:prstGeom prst="rect">
            <a:avLst/>
          </a:prstGeom>
          <a:noFill/>
          <a:ln/>
        </p:spPr>
        <p:txBody>
          <a:bodyPr wrap="none" lIns="0" tIns="0" rIns="0" bIns="0" rtlCol="0" anchor="t"/>
          <a:lstStyle/>
          <a:p>
            <a:pPr marL="0" indent="0" algn="l">
              <a:lnSpc>
                <a:spcPts val="2200"/>
              </a:lnSpc>
              <a:buNone/>
            </a:pPr>
            <a:r>
              <a:rPr lang="en-US" sz="1750" b="1" dirty="0">
                <a:solidFill>
                  <a:srgbClr val="000000"/>
                </a:solidFill>
                <a:latin typeface="Nunito Sans Bold" pitchFamily="34" charset="0"/>
                <a:ea typeface="Nunito Sans Bold" pitchFamily="34" charset="-122"/>
                <a:cs typeface="Nunito Sans Bold" pitchFamily="34" charset="-120"/>
              </a:rPr>
              <a:t>Vấn Đề: Lost in the Middle</a:t>
            </a:r>
            <a:endParaRPr lang="en-US" sz="1750" dirty="0"/>
          </a:p>
        </p:txBody>
      </p:sp>
      <p:sp>
        <p:nvSpPr>
          <p:cNvPr id="5" name="Text 2"/>
          <p:cNvSpPr/>
          <p:nvPr/>
        </p:nvSpPr>
        <p:spPr>
          <a:xfrm>
            <a:off x="599599" y="7026712"/>
            <a:ext cx="5153025" cy="719376"/>
          </a:xfrm>
          <a:prstGeom prst="rect">
            <a:avLst/>
          </a:prstGeom>
          <a:noFill/>
          <a:ln/>
        </p:spPr>
        <p:txBody>
          <a:bodyPr wrap="square" lIns="0" tIns="0" rIns="0" bIns="0" rtlCol="0" anchor="t"/>
          <a:lstStyle/>
          <a:p>
            <a:pPr marL="0" indent="0" algn="l">
              <a:lnSpc>
                <a:spcPts val="1850"/>
              </a:lnSpc>
              <a:buNone/>
            </a:pPr>
            <a:r>
              <a:rPr lang="en-US" sz="1150" dirty="0">
                <a:solidFill>
                  <a:srgbClr val="000000"/>
                </a:solidFill>
                <a:latin typeface="Nunito Sans" pitchFamily="34" charset="0"/>
                <a:ea typeface="Nunito Sans" pitchFamily="34" charset="-122"/>
                <a:cs typeface="Nunito Sans" pitchFamily="34" charset="-120"/>
              </a:rPr>
              <a:t>Khi văn bản quá dài, thông tin quan trọng bị "nhấn chìm" giữa hàng trăm đoạn văn không liên quan. Hệ thống RAG truyền thống thường mất mát thông tin trong trường hợp này.</a:t>
            </a:r>
            <a:endParaRPr lang="en-US" sz="1150" dirty="0"/>
          </a:p>
        </p:txBody>
      </p:sp>
      <p:sp>
        <p:nvSpPr>
          <p:cNvPr id="6" name="Text 3"/>
          <p:cNvSpPr/>
          <p:nvPr/>
        </p:nvSpPr>
        <p:spPr>
          <a:xfrm>
            <a:off x="6126004" y="1255395"/>
            <a:ext cx="4870371" cy="281107"/>
          </a:xfrm>
          <a:prstGeom prst="rect">
            <a:avLst/>
          </a:prstGeom>
          <a:noFill/>
          <a:ln/>
        </p:spPr>
        <p:txBody>
          <a:bodyPr wrap="none" lIns="0" tIns="0" rIns="0" bIns="0" rtlCol="0" anchor="t"/>
          <a:lstStyle/>
          <a:p>
            <a:pPr marL="0" indent="0" algn="l">
              <a:lnSpc>
                <a:spcPts val="2200"/>
              </a:lnSpc>
              <a:buNone/>
            </a:pPr>
            <a:r>
              <a:rPr lang="en-US" sz="1750" b="1" dirty="0">
                <a:solidFill>
                  <a:srgbClr val="000000"/>
                </a:solidFill>
                <a:latin typeface="Nunito Sans Bold" pitchFamily="34" charset="0"/>
                <a:ea typeface="Nunito Sans Bold" pitchFamily="34" charset="-122"/>
                <a:cs typeface="Nunito Sans Bold" pitchFamily="34" charset="-120"/>
              </a:rPr>
              <a:t>Chiến Lược Chunking Theo Cấu Trúc Pháp Luật</a:t>
            </a:r>
            <a:endParaRPr lang="en-US" sz="1750" dirty="0"/>
          </a:p>
        </p:txBody>
      </p:sp>
      <p:sp>
        <p:nvSpPr>
          <p:cNvPr id="7" name="Shape 4"/>
          <p:cNvSpPr/>
          <p:nvPr/>
        </p:nvSpPr>
        <p:spPr>
          <a:xfrm>
            <a:off x="6350794" y="1854994"/>
            <a:ext cx="7687508" cy="149900"/>
          </a:xfrm>
          <a:prstGeom prst="roundRect">
            <a:avLst>
              <a:gd name="adj" fmla="val 42003"/>
            </a:avLst>
          </a:prstGeom>
          <a:solidFill>
            <a:srgbClr val="CFE8FC"/>
          </a:solidFill>
          <a:ln w="7620">
            <a:solidFill>
              <a:srgbClr val="B5CEE2"/>
            </a:solidFill>
            <a:prstDash val="solid"/>
          </a:ln>
        </p:spPr>
        <p:txBody>
          <a:bodyPr/>
          <a:lstStyle/>
          <a:p>
            <a:endParaRPr lang="en-US"/>
          </a:p>
        </p:txBody>
      </p:sp>
      <p:sp>
        <p:nvSpPr>
          <p:cNvPr id="8" name="Shape 5"/>
          <p:cNvSpPr/>
          <p:nvPr/>
        </p:nvSpPr>
        <p:spPr>
          <a:xfrm>
            <a:off x="6126004" y="1705035"/>
            <a:ext cx="449699" cy="449699"/>
          </a:xfrm>
          <a:prstGeom prst="roundRect">
            <a:avLst>
              <a:gd name="adj" fmla="val 101668"/>
            </a:avLst>
          </a:prstGeom>
          <a:solidFill>
            <a:srgbClr val="CFE8FC"/>
          </a:solidFill>
          <a:ln w="7620">
            <a:solidFill>
              <a:srgbClr val="B5CEE2"/>
            </a:solidFill>
            <a:prstDash val="solid"/>
          </a:ln>
        </p:spPr>
        <p:txBody>
          <a:bodyPr/>
          <a:lstStyle/>
          <a:p>
            <a:endParaRPr lang="en-US"/>
          </a:p>
        </p:txBody>
      </p:sp>
      <p:pic>
        <p:nvPicPr>
          <p:cNvPr id="9"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38399" y="1817549"/>
            <a:ext cx="224790" cy="224790"/>
          </a:xfrm>
          <a:prstGeom prst="rect">
            <a:avLst/>
          </a:prstGeom>
        </p:spPr>
      </p:pic>
      <p:sp>
        <p:nvSpPr>
          <p:cNvPr id="10" name="Text 6"/>
          <p:cNvSpPr/>
          <p:nvPr/>
        </p:nvSpPr>
        <p:spPr>
          <a:xfrm>
            <a:off x="6275903" y="2304693"/>
            <a:ext cx="1937504" cy="234196"/>
          </a:xfrm>
          <a:prstGeom prst="rect">
            <a:avLst/>
          </a:prstGeom>
          <a:noFill/>
          <a:ln/>
        </p:spPr>
        <p:txBody>
          <a:bodyPr wrap="none" lIns="0" tIns="0" rIns="0" bIns="0" rtlCol="0" anchor="t"/>
          <a:lstStyle/>
          <a:p>
            <a:pPr marL="0" indent="0" algn="l">
              <a:lnSpc>
                <a:spcPts val="1800"/>
              </a:lnSpc>
              <a:buNone/>
            </a:pPr>
            <a:r>
              <a:rPr lang="en-US" sz="1450" b="1" dirty="0">
                <a:solidFill>
                  <a:srgbClr val="000000"/>
                </a:solidFill>
                <a:latin typeface="Nunito Sans Bold" pitchFamily="34" charset="0"/>
                <a:ea typeface="Nunito Sans Bold" pitchFamily="34" charset="-122"/>
                <a:cs typeface="Nunito Sans Bold" pitchFamily="34" charset="-120"/>
              </a:rPr>
              <a:t>Cấp 1: Tách Theo Điều</a:t>
            </a:r>
            <a:endParaRPr lang="en-US" sz="1450" dirty="0"/>
          </a:p>
        </p:txBody>
      </p:sp>
      <p:sp>
        <p:nvSpPr>
          <p:cNvPr id="11" name="Text 7"/>
          <p:cNvSpPr/>
          <p:nvPr/>
        </p:nvSpPr>
        <p:spPr>
          <a:xfrm>
            <a:off x="6275903" y="2688788"/>
            <a:ext cx="7612618" cy="239792"/>
          </a:xfrm>
          <a:prstGeom prst="rect">
            <a:avLst/>
          </a:prstGeom>
          <a:noFill/>
          <a:ln/>
        </p:spPr>
        <p:txBody>
          <a:bodyPr wrap="none" lIns="0" tIns="0" rIns="0" bIns="0" rtlCol="0" anchor="t"/>
          <a:lstStyle/>
          <a:p>
            <a:pPr marL="0" indent="0" algn="l">
              <a:lnSpc>
                <a:spcPts val="1850"/>
              </a:lnSpc>
              <a:buNone/>
            </a:pPr>
            <a:r>
              <a:rPr lang="en-US" sz="1150" dirty="0">
                <a:solidFill>
                  <a:srgbClr val="000000"/>
                </a:solidFill>
                <a:latin typeface="Nunito Sans" pitchFamily="34" charset="0"/>
                <a:ea typeface="Nunito Sans" pitchFamily="34" charset="-122"/>
                <a:cs typeface="Nunito Sans" pitchFamily="34" charset="-120"/>
              </a:rPr>
              <a:t>Mỗi "Điều 1", "Điều 2"... được tách thành một chunk riêng biệt. Đây là đơn vị cơ bản nhất của văn bản pháp luật.</a:t>
            </a:r>
            <a:endParaRPr lang="en-US" sz="1150" dirty="0"/>
          </a:p>
        </p:txBody>
      </p:sp>
      <p:sp>
        <p:nvSpPr>
          <p:cNvPr id="12" name="Shape 8"/>
          <p:cNvSpPr/>
          <p:nvPr/>
        </p:nvSpPr>
        <p:spPr>
          <a:xfrm>
            <a:off x="6575584" y="3378279"/>
            <a:ext cx="7462718" cy="149900"/>
          </a:xfrm>
          <a:prstGeom prst="roundRect">
            <a:avLst>
              <a:gd name="adj" fmla="val 42003"/>
            </a:avLst>
          </a:prstGeom>
          <a:solidFill>
            <a:srgbClr val="CFE8FC"/>
          </a:solidFill>
          <a:ln w="7620">
            <a:solidFill>
              <a:srgbClr val="B5CEE2"/>
            </a:solidFill>
            <a:prstDash val="solid"/>
          </a:ln>
        </p:spPr>
        <p:txBody>
          <a:bodyPr/>
          <a:lstStyle/>
          <a:p>
            <a:endParaRPr lang="en-US"/>
          </a:p>
        </p:txBody>
      </p:sp>
      <p:sp>
        <p:nvSpPr>
          <p:cNvPr id="13" name="Shape 9"/>
          <p:cNvSpPr/>
          <p:nvPr/>
        </p:nvSpPr>
        <p:spPr>
          <a:xfrm>
            <a:off x="6350794" y="3228320"/>
            <a:ext cx="449699" cy="449699"/>
          </a:xfrm>
          <a:prstGeom prst="roundRect">
            <a:avLst>
              <a:gd name="adj" fmla="val 101668"/>
            </a:avLst>
          </a:prstGeom>
          <a:solidFill>
            <a:srgbClr val="CFE8FC"/>
          </a:solidFill>
          <a:ln w="7620">
            <a:solidFill>
              <a:srgbClr val="B5CEE2"/>
            </a:solidFill>
            <a:prstDash val="solid"/>
          </a:ln>
        </p:spPr>
        <p:txBody>
          <a:bodyPr/>
          <a:lstStyle/>
          <a:p>
            <a:endParaRPr lang="en-US"/>
          </a:p>
        </p:txBody>
      </p:sp>
      <p:pic>
        <p:nvPicPr>
          <p:cNvPr id="14"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63189" y="3340834"/>
            <a:ext cx="224790" cy="224790"/>
          </a:xfrm>
          <a:prstGeom prst="rect">
            <a:avLst/>
          </a:prstGeom>
        </p:spPr>
      </p:pic>
      <p:sp>
        <p:nvSpPr>
          <p:cNvPr id="15" name="Text 10"/>
          <p:cNvSpPr/>
          <p:nvPr/>
        </p:nvSpPr>
        <p:spPr>
          <a:xfrm>
            <a:off x="6500693" y="3827978"/>
            <a:ext cx="2090857" cy="234196"/>
          </a:xfrm>
          <a:prstGeom prst="rect">
            <a:avLst/>
          </a:prstGeom>
          <a:noFill/>
          <a:ln/>
        </p:spPr>
        <p:txBody>
          <a:bodyPr wrap="none" lIns="0" tIns="0" rIns="0" bIns="0" rtlCol="0" anchor="t"/>
          <a:lstStyle/>
          <a:p>
            <a:pPr marL="0" indent="0" algn="l">
              <a:lnSpc>
                <a:spcPts val="1800"/>
              </a:lnSpc>
              <a:buNone/>
            </a:pPr>
            <a:r>
              <a:rPr lang="en-US" sz="1450" b="1" dirty="0">
                <a:solidFill>
                  <a:srgbClr val="000000"/>
                </a:solidFill>
                <a:latin typeface="Nunito Sans Bold" pitchFamily="34" charset="0"/>
                <a:ea typeface="Nunito Sans Bold" pitchFamily="34" charset="-122"/>
                <a:cs typeface="Nunito Sans Bold" pitchFamily="34" charset="-120"/>
              </a:rPr>
              <a:t>Cấp 2: Tách Theo Khoản</a:t>
            </a:r>
            <a:endParaRPr lang="en-US" sz="1450" dirty="0"/>
          </a:p>
        </p:txBody>
      </p:sp>
      <p:sp>
        <p:nvSpPr>
          <p:cNvPr id="16" name="Text 11"/>
          <p:cNvSpPr/>
          <p:nvPr/>
        </p:nvSpPr>
        <p:spPr>
          <a:xfrm>
            <a:off x="6500693" y="4212074"/>
            <a:ext cx="7387828" cy="239792"/>
          </a:xfrm>
          <a:prstGeom prst="rect">
            <a:avLst/>
          </a:prstGeom>
          <a:noFill/>
          <a:ln/>
        </p:spPr>
        <p:txBody>
          <a:bodyPr wrap="none" lIns="0" tIns="0" rIns="0" bIns="0" rtlCol="0" anchor="t"/>
          <a:lstStyle/>
          <a:p>
            <a:pPr marL="0" indent="0" algn="l">
              <a:lnSpc>
                <a:spcPts val="1850"/>
              </a:lnSpc>
              <a:buNone/>
            </a:pPr>
            <a:r>
              <a:rPr lang="en-US" sz="1150" dirty="0">
                <a:solidFill>
                  <a:srgbClr val="000000"/>
                </a:solidFill>
                <a:latin typeface="Nunito Sans" pitchFamily="34" charset="0"/>
                <a:ea typeface="Nunito Sans" pitchFamily="34" charset="-122"/>
                <a:cs typeface="Nunito Sans" pitchFamily="34" charset="-120"/>
              </a:rPr>
              <a:t>Nếu một Điều quá dài (&gt;500 từ), tiếp tục chia nhỏ thành "Khoản 1", "Khoản 2" để giữ kích thước chunk hợp lý.</a:t>
            </a:r>
            <a:endParaRPr lang="en-US" sz="1150" dirty="0"/>
          </a:p>
        </p:txBody>
      </p:sp>
      <p:sp>
        <p:nvSpPr>
          <p:cNvPr id="17" name="Shape 12"/>
          <p:cNvSpPr/>
          <p:nvPr/>
        </p:nvSpPr>
        <p:spPr>
          <a:xfrm>
            <a:off x="6800493" y="4901565"/>
            <a:ext cx="7237809" cy="149900"/>
          </a:xfrm>
          <a:prstGeom prst="roundRect">
            <a:avLst>
              <a:gd name="adj" fmla="val 42003"/>
            </a:avLst>
          </a:prstGeom>
          <a:solidFill>
            <a:srgbClr val="CFE8FC"/>
          </a:solidFill>
          <a:ln w="7620">
            <a:solidFill>
              <a:srgbClr val="B5CEE2"/>
            </a:solidFill>
            <a:prstDash val="solid"/>
          </a:ln>
        </p:spPr>
        <p:txBody>
          <a:bodyPr/>
          <a:lstStyle/>
          <a:p>
            <a:endParaRPr lang="en-US"/>
          </a:p>
        </p:txBody>
      </p:sp>
      <p:sp>
        <p:nvSpPr>
          <p:cNvPr id="18" name="Shape 13"/>
          <p:cNvSpPr/>
          <p:nvPr/>
        </p:nvSpPr>
        <p:spPr>
          <a:xfrm>
            <a:off x="6575703" y="4751606"/>
            <a:ext cx="449699" cy="449699"/>
          </a:xfrm>
          <a:prstGeom prst="roundRect">
            <a:avLst>
              <a:gd name="adj" fmla="val 101668"/>
            </a:avLst>
          </a:prstGeom>
          <a:solidFill>
            <a:srgbClr val="CFE8FC"/>
          </a:solidFill>
          <a:ln w="7620">
            <a:solidFill>
              <a:srgbClr val="B5CEE2"/>
            </a:solidFill>
            <a:prstDash val="solid"/>
          </a:ln>
        </p:spPr>
        <p:txBody>
          <a:bodyPr/>
          <a:lstStyle/>
          <a:p>
            <a:endParaRPr lang="en-US"/>
          </a:p>
        </p:txBody>
      </p:sp>
      <p:pic>
        <p:nvPicPr>
          <p:cNvPr id="19"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88098" y="4864120"/>
            <a:ext cx="224790" cy="224790"/>
          </a:xfrm>
          <a:prstGeom prst="rect">
            <a:avLst/>
          </a:prstGeom>
        </p:spPr>
      </p:pic>
      <p:sp>
        <p:nvSpPr>
          <p:cNvPr id="20" name="Text 14"/>
          <p:cNvSpPr/>
          <p:nvPr/>
        </p:nvSpPr>
        <p:spPr>
          <a:xfrm>
            <a:off x="6725603" y="5351264"/>
            <a:ext cx="1873806" cy="234196"/>
          </a:xfrm>
          <a:prstGeom prst="rect">
            <a:avLst/>
          </a:prstGeom>
          <a:noFill/>
          <a:ln/>
        </p:spPr>
        <p:txBody>
          <a:bodyPr wrap="none" lIns="0" tIns="0" rIns="0" bIns="0" rtlCol="0" anchor="t"/>
          <a:lstStyle/>
          <a:p>
            <a:pPr marL="0" indent="0" algn="l">
              <a:lnSpc>
                <a:spcPts val="1800"/>
              </a:lnSpc>
              <a:buNone/>
            </a:pPr>
            <a:r>
              <a:rPr lang="en-US" sz="1450" b="1" dirty="0">
                <a:solidFill>
                  <a:srgbClr val="000000"/>
                </a:solidFill>
                <a:latin typeface="Nunito Sans Bold" pitchFamily="34" charset="0"/>
                <a:ea typeface="Nunito Sans Bold" pitchFamily="34" charset="-122"/>
                <a:cs typeface="Nunito Sans Bold" pitchFamily="34" charset="-120"/>
              </a:rPr>
              <a:t>Cấp 3: Xử Lý Điểm</a:t>
            </a:r>
            <a:endParaRPr lang="en-US" sz="1450" dirty="0"/>
          </a:p>
        </p:txBody>
      </p:sp>
      <p:sp>
        <p:nvSpPr>
          <p:cNvPr id="21" name="Text 15"/>
          <p:cNvSpPr/>
          <p:nvPr/>
        </p:nvSpPr>
        <p:spPr>
          <a:xfrm>
            <a:off x="6725603" y="5735360"/>
            <a:ext cx="7162919" cy="239792"/>
          </a:xfrm>
          <a:prstGeom prst="rect">
            <a:avLst/>
          </a:prstGeom>
          <a:noFill/>
          <a:ln/>
        </p:spPr>
        <p:txBody>
          <a:bodyPr wrap="none" lIns="0" tIns="0" rIns="0" bIns="0" rtlCol="0" anchor="t"/>
          <a:lstStyle/>
          <a:p>
            <a:pPr marL="0" indent="0" algn="l">
              <a:lnSpc>
                <a:spcPts val="1850"/>
              </a:lnSpc>
              <a:buNone/>
            </a:pPr>
            <a:r>
              <a:rPr lang="en-US" sz="1150" dirty="0">
                <a:solidFill>
                  <a:srgbClr val="000000"/>
                </a:solidFill>
                <a:latin typeface="Nunito Sans" pitchFamily="34" charset="0"/>
                <a:ea typeface="Nunito Sans" pitchFamily="34" charset="-122"/>
                <a:cs typeface="Nunito Sans" pitchFamily="34" charset="-120"/>
              </a:rPr>
              <a:t>Các "Điểm a, b, c" được giữ nguyên trong Khoản, chỉ tách riêng nếu Khoản vẫn quá dài sau cấp 2.</a:t>
            </a:r>
            <a:endParaRPr lang="en-US" sz="1150" dirty="0"/>
          </a:p>
        </p:txBody>
      </p:sp>
      <p:sp>
        <p:nvSpPr>
          <p:cNvPr id="22" name="Shape 16"/>
          <p:cNvSpPr/>
          <p:nvPr/>
        </p:nvSpPr>
        <p:spPr>
          <a:xfrm>
            <a:off x="6126004" y="6293644"/>
            <a:ext cx="7912417" cy="876657"/>
          </a:xfrm>
          <a:prstGeom prst="roundRect">
            <a:avLst>
              <a:gd name="adj" fmla="val 7182"/>
            </a:avLst>
          </a:prstGeom>
          <a:solidFill>
            <a:srgbClr val="B7DDFB"/>
          </a:solidFill>
          <a:ln/>
        </p:spPr>
        <p:txBody>
          <a:bodyPr/>
          <a:lstStyle/>
          <a:p>
            <a:endParaRPr lang="en-US"/>
          </a:p>
        </p:txBody>
      </p:sp>
      <p:pic>
        <p:nvPicPr>
          <p:cNvPr id="23" name="Image 4" descr="preencoded.png"/>
          <p:cNvPicPr>
            <a:picLocks noChangeAspect="1"/>
          </p:cNvPicPr>
          <p:nvPr/>
        </p:nvPicPr>
        <p:blipFill>
          <a:blip r:embed="rId9"/>
          <a:stretch>
            <a:fillRect/>
          </a:stretch>
        </p:blipFill>
        <p:spPr>
          <a:xfrm>
            <a:off x="6275903" y="6517362"/>
            <a:ext cx="187285" cy="149900"/>
          </a:xfrm>
          <a:prstGeom prst="rect">
            <a:avLst/>
          </a:prstGeom>
        </p:spPr>
      </p:pic>
      <p:sp>
        <p:nvSpPr>
          <p:cNvPr id="24" name="Text 17"/>
          <p:cNvSpPr/>
          <p:nvPr/>
        </p:nvSpPr>
        <p:spPr>
          <a:xfrm>
            <a:off x="6613088" y="6480929"/>
            <a:ext cx="7275433" cy="479584"/>
          </a:xfrm>
          <a:prstGeom prst="rect">
            <a:avLst/>
          </a:prstGeom>
          <a:noFill/>
          <a:ln/>
        </p:spPr>
        <p:txBody>
          <a:bodyPr wrap="square" lIns="0" tIns="0" rIns="0" bIns="0" rtlCol="0" anchor="t"/>
          <a:lstStyle/>
          <a:p>
            <a:pPr marL="0" indent="0" algn="l">
              <a:lnSpc>
                <a:spcPts val="1850"/>
              </a:lnSpc>
              <a:buNone/>
            </a:pPr>
            <a:r>
              <a:rPr lang="en-US" sz="1150" b="1" dirty="0">
                <a:solidFill>
                  <a:srgbClr val="000000"/>
                </a:solidFill>
                <a:latin typeface="Nunito Sans" pitchFamily="34" charset="0"/>
                <a:ea typeface="Nunito Sans" pitchFamily="34" charset="-122"/>
                <a:cs typeface="Nunito Sans" pitchFamily="34" charset="-120"/>
              </a:rPr>
              <a:t>Kết quả:</a:t>
            </a:r>
            <a:r>
              <a:rPr lang="en-US" sz="1150" dirty="0">
                <a:solidFill>
                  <a:srgbClr val="000000"/>
                </a:solidFill>
                <a:latin typeface="Nunito Sans" pitchFamily="34" charset="0"/>
                <a:ea typeface="Nunito Sans" pitchFamily="34" charset="-122"/>
                <a:cs typeface="Nunito Sans" pitchFamily="34" charset="-120"/>
              </a:rPr>
              <a:t> Mỗi chunk có kích thước </a:t>
            </a:r>
            <a:r>
              <a:rPr lang="en-US" sz="1150" dirty="0" err="1">
                <a:solidFill>
                  <a:srgbClr val="000000"/>
                </a:solidFill>
                <a:latin typeface="Nunito Sans" pitchFamily="34" charset="0"/>
                <a:ea typeface="Nunito Sans" pitchFamily="34" charset="-122"/>
                <a:cs typeface="Nunito Sans" pitchFamily="34" charset="-120"/>
              </a:rPr>
              <a:t>vừa</a:t>
            </a:r>
            <a:r>
              <a:rPr lang="en-US" sz="1150" dirty="0">
                <a:solidFill>
                  <a:srgbClr val="000000"/>
                </a:solidFill>
                <a:latin typeface="Nunito Sans" pitchFamily="34" charset="0"/>
                <a:ea typeface="Nunito Sans" pitchFamily="34" charset="-122"/>
                <a:cs typeface="Nunito Sans" pitchFamily="34" charset="-120"/>
              </a:rPr>
              <a:t> </a:t>
            </a:r>
            <a:r>
              <a:rPr lang="en-US" sz="1150" dirty="0" err="1">
                <a:solidFill>
                  <a:srgbClr val="000000"/>
                </a:solidFill>
                <a:latin typeface="Nunito Sans" pitchFamily="34" charset="0"/>
                <a:ea typeface="Nunito Sans" pitchFamily="34" charset="-122"/>
                <a:cs typeface="Nunito Sans" pitchFamily="34" charset="-120"/>
              </a:rPr>
              <a:t>phải</a:t>
            </a:r>
            <a:r>
              <a:rPr lang="en-US" sz="1150" dirty="0">
                <a:solidFill>
                  <a:srgbClr val="000000"/>
                </a:solidFill>
                <a:latin typeface="Nunito Sans" pitchFamily="34" charset="0"/>
                <a:ea typeface="Nunito Sans" pitchFamily="34" charset="-122"/>
                <a:cs typeface="Nunito Sans" pitchFamily="34" charset="-120"/>
              </a:rPr>
              <a:t>, giữ nguyên ngữ cảnh pháp lý, và dễ dàng truy vết nguồn gốc (Điều số, Khoản số).</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8057" y="574358"/>
            <a:ext cx="7511653" cy="506254"/>
          </a:xfrm>
          <a:prstGeom prst="rect">
            <a:avLst/>
          </a:prstGeom>
          <a:noFill/>
          <a:ln/>
        </p:spPr>
        <p:txBody>
          <a:bodyPr wrap="none" lIns="0" tIns="0" rIns="0" bIns="0" rtlCol="0" anchor="t"/>
          <a:lstStyle/>
          <a:p>
            <a:pPr marL="0" indent="0" algn="l">
              <a:lnSpc>
                <a:spcPts val="3950"/>
              </a:lnSpc>
              <a:buNone/>
            </a:pPr>
            <a:r>
              <a:rPr lang="en-US" sz="3150" b="1" dirty="0">
                <a:solidFill>
                  <a:srgbClr val="000000"/>
                </a:solidFill>
                <a:latin typeface="Nunito Sans Bold" pitchFamily="34" charset="0"/>
                <a:ea typeface="Nunito Sans Bold" pitchFamily="34" charset="-122"/>
                <a:cs typeface="Nunito Sans Bold" pitchFamily="34" charset="-120"/>
              </a:rPr>
              <a:t>Dense Embedding - Mô Hình Ngữ Nghĩa</a:t>
            </a:r>
            <a:endParaRPr lang="en-US" sz="3150" dirty="0"/>
          </a:p>
        </p:txBody>
      </p:sp>
      <p:sp>
        <p:nvSpPr>
          <p:cNvPr id="3" name="Text 1"/>
          <p:cNvSpPr/>
          <p:nvPr/>
        </p:nvSpPr>
        <p:spPr>
          <a:xfrm>
            <a:off x="648057" y="1145381"/>
            <a:ext cx="4237673" cy="303728"/>
          </a:xfrm>
          <a:prstGeom prst="rect">
            <a:avLst/>
          </a:prstGeom>
          <a:noFill/>
          <a:ln/>
        </p:spPr>
        <p:txBody>
          <a:bodyPr wrap="none" lIns="0" tIns="0" rIns="0" bIns="0" rtlCol="0" anchor="t"/>
          <a:lstStyle/>
          <a:p>
            <a:pPr marL="0" indent="0" algn="l">
              <a:lnSpc>
                <a:spcPts val="2350"/>
              </a:lnSpc>
              <a:buNone/>
            </a:pPr>
            <a:r>
              <a:rPr lang="en-US" sz="1900" b="1" dirty="0">
                <a:solidFill>
                  <a:srgbClr val="000000"/>
                </a:solidFill>
                <a:latin typeface="Nunito Sans Bold" pitchFamily="34" charset="0"/>
                <a:ea typeface="Nunito Sans Bold" pitchFamily="34" charset="-122"/>
                <a:cs typeface="Nunito Sans Bold" pitchFamily="34" charset="-120"/>
              </a:rPr>
              <a:t>Chuyển Đổi Văn Bản Thành Vector Số</a:t>
            </a:r>
            <a:endParaRPr lang="en-US" sz="1900" dirty="0"/>
          </a:p>
        </p:txBody>
      </p:sp>
      <p:sp>
        <p:nvSpPr>
          <p:cNvPr id="4" name="Text 2"/>
          <p:cNvSpPr/>
          <p:nvPr/>
        </p:nvSpPr>
        <p:spPr>
          <a:xfrm>
            <a:off x="648057" y="1692116"/>
            <a:ext cx="13334286" cy="25919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latin typeface="Nunito Sans" pitchFamily="34" charset="0"/>
                <a:ea typeface="Nunito Sans" pitchFamily="34" charset="-122"/>
                <a:cs typeface="Nunito Sans" pitchFamily="34" charset="-120"/>
              </a:rPr>
              <a:t>Để máy tính "hiểu" được ý nghĩa của tiếng Việt, chúng ta sử dụng mô hình Sentence Transformer để chuyển đổi văn bản thành Dense Vector - một dãy số thực biểu diễn ngữ nghĩa.</a:t>
            </a:r>
            <a:endParaRPr lang="en-US" sz="1250" dirty="0"/>
          </a:p>
        </p:txBody>
      </p:sp>
      <p:sp>
        <p:nvSpPr>
          <p:cNvPr id="5" name="Text 3"/>
          <p:cNvSpPr/>
          <p:nvPr/>
        </p:nvSpPr>
        <p:spPr>
          <a:xfrm>
            <a:off x="648057" y="2295525"/>
            <a:ext cx="5699879" cy="303728"/>
          </a:xfrm>
          <a:prstGeom prst="rect">
            <a:avLst/>
          </a:prstGeom>
          <a:noFill/>
          <a:ln/>
        </p:spPr>
        <p:txBody>
          <a:bodyPr wrap="none" lIns="0" tIns="0" rIns="0" bIns="0" rtlCol="0" anchor="t"/>
          <a:lstStyle/>
          <a:p>
            <a:pPr marL="0" indent="0" algn="l">
              <a:lnSpc>
                <a:spcPts val="2350"/>
              </a:lnSpc>
              <a:buNone/>
            </a:pPr>
            <a:r>
              <a:rPr lang="en-US" sz="1900" b="1" dirty="0">
                <a:solidFill>
                  <a:srgbClr val="000000"/>
                </a:solidFill>
                <a:latin typeface="Nunito Sans Bold" pitchFamily="34" charset="0"/>
                <a:ea typeface="Nunito Sans Bold" pitchFamily="34" charset="-122"/>
                <a:cs typeface="Nunito Sans Bold" pitchFamily="34" charset="-120"/>
              </a:rPr>
              <a:t>Mô Hình: BKAI-Foundation/vietnamese-bi-encoder</a:t>
            </a:r>
            <a:endParaRPr lang="en-US" sz="1900" dirty="0"/>
          </a:p>
        </p:txBody>
      </p:sp>
      <p:sp>
        <p:nvSpPr>
          <p:cNvPr id="6" name="Shape 4"/>
          <p:cNvSpPr/>
          <p:nvPr/>
        </p:nvSpPr>
        <p:spPr>
          <a:xfrm>
            <a:off x="648057" y="2781538"/>
            <a:ext cx="7155894" cy="1991439"/>
          </a:xfrm>
          <a:prstGeom prst="roundRect">
            <a:avLst>
              <a:gd name="adj" fmla="val 3417"/>
            </a:avLst>
          </a:prstGeom>
          <a:solidFill>
            <a:srgbClr val="FFFFFF"/>
          </a:solidFill>
          <a:ln w="22860">
            <a:solidFill>
              <a:srgbClr val="B5CEE2"/>
            </a:solidFill>
            <a:prstDash val="solid"/>
          </a:ln>
        </p:spPr>
        <p:txBody>
          <a:bodyPr/>
          <a:lstStyle/>
          <a:p>
            <a:endParaRPr lang="en-US"/>
          </a:p>
        </p:txBody>
      </p:sp>
      <p:sp>
        <p:nvSpPr>
          <p:cNvPr id="7" name="Text 5"/>
          <p:cNvSpPr/>
          <p:nvPr/>
        </p:nvSpPr>
        <p:spPr>
          <a:xfrm>
            <a:off x="832842" y="2966323"/>
            <a:ext cx="2025372" cy="25312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Nunito Sans Bold" pitchFamily="34" charset="0"/>
                <a:ea typeface="Nunito Sans Bold" pitchFamily="34" charset="-122"/>
                <a:cs typeface="Nunito Sans Bold" pitchFamily="34" charset="-120"/>
              </a:rPr>
              <a:t>Tại Sao Chọn BKAI?</a:t>
            </a:r>
            <a:endParaRPr lang="en-US" sz="1550" dirty="0"/>
          </a:p>
        </p:txBody>
      </p:sp>
      <p:sp>
        <p:nvSpPr>
          <p:cNvPr id="8" name="Text 6"/>
          <p:cNvSpPr/>
          <p:nvPr/>
        </p:nvSpPr>
        <p:spPr>
          <a:xfrm>
            <a:off x="832842" y="3381375"/>
            <a:ext cx="6786324" cy="259199"/>
          </a:xfrm>
          <a:prstGeom prst="rect">
            <a:avLst/>
          </a:prstGeom>
          <a:noFill/>
          <a:ln/>
        </p:spPr>
        <p:txBody>
          <a:bodyPr wrap="none" lIns="0" tIns="0" rIns="0" bIns="0" rtlCol="0" anchor="t"/>
          <a:lstStyle/>
          <a:p>
            <a:pPr marL="342900" indent="-342900" algn="l">
              <a:lnSpc>
                <a:spcPts val="2000"/>
              </a:lnSpc>
              <a:buSzPct val="100000"/>
              <a:buChar char="•"/>
            </a:pPr>
            <a:r>
              <a:rPr lang="en-US" sz="1250" dirty="0">
                <a:solidFill>
                  <a:srgbClr val="000000"/>
                </a:solidFill>
                <a:latin typeface="Nunito Sans" pitchFamily="34" charset="0"/>
                <a:ea typeface="Nunito Sans" pitchFamily="34" charset="-122"/>
                <a:cs typeface="Nunito Sans" pitchFamily="34" charset="-120"/>
              </a:rPr>
              <a:t>Mô hình </a:t>
            </a:r>
            <a:r>
              <a:rPr lang="en-US" sz="1250" b="1" dirty="0">
                <a:solidFill>
                  <a:srgbClr val="000000"/>
                </a:solidFill>
                <a:latin typeface="Nunito Sans" pitchFamily="34" charset="0"/>
                <a:ea typeface="Nunito Sans" pitchFamily="34" charset="-122"/>
                <a:cs typeface="Nunito Sans" pitchFamily="34" charset="-120"/>
              </a:rPr>
              <a:t>Bi-Encoder</a:t>
            </a:r>
            <a:r>
              <a:rPr lang="en-US" sz="1250" dirty="0">
                <a:solidFill>
                  <a:srgbClr val="000000"/>
                </a:solidFill>
                <a:latin typeface="Nunito Sans" pitchFamily="34" charset="0"/>
                <a:ea typeface="Nunito Sans" pitchFamily="34" charset="-122"/>
                <a:cs typeface="Nunito Sans" pitchFamily="34" charset="-120"/>
              </a:rPr>
              <a:t> chuyên dụng cho tác vụ Retrieval (không phải LLM tạo sinh)</a:t>
            </a:r>
            <a:endParaRPr lang="en-US" sz="1250" dirty="0"/>
          </a:p>
        </p:txBody>
      </p:sp>
      <p:sp>
        <p:nvSpPr>
          <p:cNvPr id="9" name="Text 7"/>
          <p:cNvSpPr/>
          <p:nvPr/>
        </p:nvSpPr>
        <p:spPr>
          <a:xfrm>
            <a:off x="832842" y="3697248"/>
            <a:ext cx="6786324" cy="259199"/>
          </a:xfrm>
          <a:prstGeom prst="rect">
            <a:avLst/>
          </a:prstGeom>
          <a:noFill/>
          <a:ln/>
        </p:spPr>
        <p:txBody>
          <a:bodyPr wrap="none" lIns="0" tIns="0" rIns="0" bIns="0" rtlCol="0" anchor="t"/>
          <a:lstStyle/>
          <a:p>
            <a:pPr marL="342900" indent="-342900" algn="l">
              <a:lnSpc>
                <a:spcPts val="2000"/>
              </a:lnSpc>
              <a:buSzPct val="100000"/>
              <a:buChar char="•"/>
            </a:pPr>
            <a:r>
              <a:rPr lang="en-US" sz="1250" dirty="0">
                <a:solidFill>
                  <a:srgbClr val="000000"/>
                </a:solidFill>
                <a:latin typeface="Nunito Sans" pitchFamily="34" charset="0"/>
                <a:ea typeface="Nunito Sans" pitchFamily="34" charset="-122"/>
                <a:cs typeface="Nunito Sans" pitchFamily="34" charset="-120"/>
              </a:rPr>
              <a:t>Fine-tuned đặc biệt cho </a:t>
            </a:r>
            <a:r>
              <a:rPr lang="en-US" sz="1250" b="1" dirty="0">
                <a:solidFill>
                  <a:srgbClr val="000000"/>
                </a:solidFill>
                <a:latin typeface="Nunito Sans" pitchFamily="34" charset="0"/>
                <a:ea typeface="Nunito Sans" pitchFamily="34" charset="-122"/>
                <a:cs typeface="Nunito Sans" pitchFamily="34" charset="-120"/>
              </a:rPr>
              <a:t>tiếng Việt</a:t>
            </a:r>
            <a:r>
              <a:rPr lang="en-US" sz="1250" dirty="0">
                <a:solidFill>
                  <a:srgbClr val="000000"/>
                </a:solidFill>
                <a:latin typeface="Nunito Sans" pitchFamily="34" charset="0"/>
                <a:ea typeface="Nunito Sans" pitchFamily="34" charset="-122"/>
                <a:cs typeface="Nunito Sans" pitchFamily="34" charset="-120"/>
              </a:rPr>
              <a:t> với corpus lớn</a:t>
            </a:r>
            <a:endParaRPr lang="en-US" sz="1250" dirty="0"/>
          </a:p>
        </p:txBody>
      </p:sp>
      <p:sp>
        <p:nvSpPr>
          <p:cNvPr id="10" name="Text 8"/>
          <p:cNvSpPr/>
          <p:nvPr/>
        </p:nvSpPr>
        <p:spPr>
          <a:xfrm>
            <a:off x="832842" y="4013121"/>
            <a:ext cx="6786324" cy="259199"/>
          </a:xfrm>
          <a:prstGeom prst="rect">
            <a:avLst/>
          </a:prstGeom>
          <a:noFill/>
          <a:ln/>
        </p:spPr>
        <p:txBody>
          <a:bodyPr wrap="none" lIns="0" tIns="0" rIns="0" bIns="0" rtlCol="0" anchor="t"/>
          <a:lstStyle/>
          <a:p>
            <a:pPr marL="342900" indent="-342900" algn="l">
              <a:lnSpc>
                <a:spcPts val="2000"/>
              </a:lnSpc>
              <a:buSzPct val="100000"/>
              <a:buChar char="•"/>
            </a:pPr>
            <a:r>
              <a:rPr lang="en-US" sz="1250" dirty="0">
                <a:solidFill>
                  <a:srgbClr val="000000"/>
                </a:solidFill>
                <a:latin typeface="Nunito Sans" pitchFamily="34" charset="0"/>
                <a:ea typeface="Nunito Sans" pitchFamily="34" charset="-122"/>
                <a:cs typeface="Nunito Sans" pitchFamily="34" charset="-120"/>
              </a:rPr>
              <a:t>Đạt SOTA trên benchmark tiếng Việt, vượt PhoBERT gốc</a:t>
            </a:r>
            <a:endParaRPr lang="en-US" sz="1250" dirty="0"/>
          </a:p>
        </p:txBody>
      </p:sp>
      <p:sp>
        <p:nvSpPr>
          <p:cNvPr id="11" name="Text 9"/>
          <p:cNvSpPr/>
          <p:nvPr/>
        </p:nvSpPr>
        <p:spPr>
          <a:xfrm>
            <a:off x="832842" y="4328993"/>
            <a:ext cx="6786324" cy="259199"/>
          </a:xfrm>
          <a:prstGeom prst="rect">
            <a:avLst/>
          </a:prstGeom>
          <a:noFill/>
          <a:ln/>
        </p:spPr>
        <p:txBody>
          <a:bodyPr wrap="none" lIns="0" tIns="0" rIns="0" bIns="0" rtlCol="0" anchor="t"/>
          <a:lstStyle/>
          <a:p>
            <a:pPr marL="342900" indent="-342900" algn="l">
              <a:lnSpc>
                <a:spcPts val="2000"/>
              </a:lnSpc>
              <a:buSzPct val="100000"/>
              <a:buChar char="•"/>
            </a:pPr>
            <a:r>
              <a:rPr lang="en-US" sz="1250" dirty="0">
                <a:solidFill>
                  <a:srgbClr val="000000"/>
                </a:solidFill>
                <a:latin typeface="Nunito Sans" pitchFamily="34" charset="0"/>
                <a:ea typeface="Nunito Sans" pitchFamily="34" charset="-122"/>
                <a:cs typeface="Nunito Sans" pitchFamily="34" charset="-120"/>
              </a:rPr>
              <a:t>Kiến trúc tối ưu cho tìm kiếm ngữ nghĩa nhanh</a:t>
            </a:r>
            <a:endParaRPr lang="en-US" sz="1250" dirty="0"/>
          </a:p>
        </p:txBody>
      </p:sp>
      <p:sp>
        <p:nvSpPr>
          <p:cNvPr id="12" name="Shape 10"/>
          <p:cNvSpPr/>
          <p:nvPr/>
        </p:nvSpPr>
        <p:spPr>
          <a:xfrm>
            <a:off x="648057" y="4934903"/>
            <a:ext cx="7155894" cy="2538055"/>
          </a:xfrm>
          <a:prstGeom prst="roundRect">
            <a:avLst>
              <a:gd name="adj" fmla="val 2681"/>
            </a:avLst>
          </a:prstGeom>
          <a:solidFill>
            <a:srgbClr val="FFFFFF"/>
          </a:solidFill>
          <a:ln w="22860">
            <a:solidFill>
              <a:srgbClr val="B5CEE2"/>
            </a:solidFill>
            <a:prstDash val="solid"/>
          </a:ln>
        </p:spPr>
        <p:txBody>
          <a:bodyPr/>
          <a:lstStyle/>
          <a:p>
            <a:endParaRPr lang="en-US"/>
          </a:p>
        </p:txBody>
      </p:sp>
      <p:sp>
        <p:nvSpPr>
          <p:cNvPr id="13" name="Text 11"/>
          <p:cNvSpPr/>
          <p:nvPr/>
        </p:nvSpPr>
        <p:spPr>
          <a:xfrm>
            <a:off x="832842" y="5119687"/>
            <a:ext cx="2025372" cy="25312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Nunito Sans Bold" pitchFamily="34" charset="0"/>
                <a:ea typeface="Nunito Sans Bold" pitchFamily="34" charset="-122"/>
                <a:cs typeface="Nunito Sans Bold" pitchFamily="34" charset="-120"/>
              </a:rPr>
              <a:t>Cơ Chế Hoạt Động</a:t>
            </a:r>
            <a:endParaRPr lang="en-US" sz="1550" dirty="0"/>
          </a:p>
        </p:txBody>
      </p:sp>
      <p:sp>
        <p:nvSpPr>
          <p:cNvPr id="14" name="Text 12"/>
          <p:cNvSpPr/>
          <p:nvPr/>
        </p:nvSpPr>
        <p:spPr>
          <a:xfrm>
            <a:off x="832842" y="5534739"/>
            <a:ext cx="6786324" cy="259199"/>
          </a:xfrm>
          <a:prstGeom prst="rect">
            <a:avLst/>
          </a:prstGeom>
          <a:noFill/>
          <a:ln/>
        </p:spPr>
        <p:txBody>
          <a:bodyPr wrap="none" lIns="0" tIns="0" rIns="0" bIns="0" rtlCol="0" anchor="t"/>
          <a:lstStyle/>
          <a:p>
            <a:pPr marL="0" indent="0" algn="l">
              <a:lnSpc>
                <a:spcPts val="2000"/>
              </a:lnSpc>
              <a:buNone/>
            </a:pPr>
            <a:r>
              <a:rPr lang="en-US" sz="1250" b="1" dirty="0">
                <a:solidFill>
                  <a:srgbClr val="000000"/>
                </a:solidFill>
                <a:latin typeface="Nunito Sans" pitchFamily="34" charset="0"/>
                <a:ea typeface="Nunito Sans" pitchFamily="34" charset="-122"/>
                <a:cs typeface="Nunito Sans" pitchFamily="34" charset="-120"/>
              </a:rPr>
              <a:t>Input:</a:t>
            </a:r>
            <a:r>
              <a:rPr lang="en-US" sz="1250" dirty="0">
                <a:solidFill>
                  <a:srgbClr val="000000"/>
                </a:solidFill>
                <a:latin typeface="Nunito Sans" pitchFamily="34" charset="0"/>
                <a:ea typeface="Nunito Sans" pitchFamily="34" charset="-122"/>
                <a:cs typeface="Nunito Sans" pitchFamily="34" charset="-120"/>
              </a:rPr>
              <a:t> "Đối tượng đóng bảo hiểm y tế"</a:t>
            </a:r>
            <a:endParaRPr lang="en-US" sz="1250" dirty="0"/>
          </a:p>
        </p:txBody>
      </p:sp>
      <p:sp>
        <p:nvSpPr>
          <p:cNvPr id="15" name="Text 13"/>
          <p:cNvSpPr/>
          <p:nvPr/>
        </p:nvSpPr>
        <p:spPr>
          <a:xfrm>
            <a:off x="832842" y="5939671"/>
            <a:ext cx="6786324" cy="259199"/>
          </a:xfrm>
          <a:prstGeom prst="rect">
            <a:avLst/>
          </a:prstGeom>
          <a:noFill/>
          <a:ln/>
        </p:spPr>
        <p:txBody>
          <a:bodyPr wrap="none" lIns="0" tIns="0" rIns="0" bIns="0" rtlCol="0" anchor="t"/>
          <a:lstStyle/>
          <a:p>
            <a:pPr marL="0" indent="0" algn="l">
              <a:lnSpc>
                <a:spcPts val="2000"/>
              </a:lnSpc>
              <a:buNone/>
            </a:pPr>
            <a:r>
              <a:rPr lang="en-US" sz="1250" b="1" dirty="0">
                <a:solidFill>
                  <a:srgbClr val="000000"/>
                </a:solidFill>
                <a:latin typeface="Nunito Sans" pitchFamily="34" charset="0"/>
                <a:ea typeface="Nunito Sans" pitchFamily="34" charset="-122"/>
                <a:cs typeface="Nunito Sans" pitchFamily="34" charset="-120"/>
              </a:rPr>
              <a:t>Process:</a:t>
            </a:r>
            <a:r>
              <a:rPr lang="en-US" sz="1250" dirty="0">
                <a:solidFill>
                  <a:srgbClr val="000000"/>
                </a:solidFill>
                <a:latin typeface="Nunito Sans" pitchFamily="34" charset="0"/>
                <a:ea typeface="Nunito Sans" pitchFamily="34" charset="-122"/>
                <a:cs typeface="Nunito Sans" pitchFamily="34" charset="-120"/>
              </a:rPr>
              <a:t> Tokenization → BERT Encoding → Pooling</a:t>
            </a:r>
            <a:endParaRPr lang="en-US" sz="1250" dirty="0"/>
          </a:p>
        </p:txBody>
      </p:sp>
      <p:sp>
        <p:nvSpPr>
          <p:cNvPr id="16" name="Text 14"/>
          <p:cNvSpPr/>
          <p:nvPr/>
        </p:nvSpPr>
        <p:spPr>
          <a:xfrm>
            <a:off x="832842" y="6344603"/>
            <a:ext cx="6786324" cy="259199"/>
          </a:xfrm>
          <a:prstGeom prst="rect">
            <a:avLst/>
          </a:prstGeom>
          <a:noFill/>
          <a:ln/>
        </p:spPr>
        <p:txBody>
          <a:bodyPr wrap="none" lIns="0" tIns="0" rIns="0" bIns="0" rtlCol="0" anchor="t"/>
          <a:lstStyle/>
          <a:p>
            <a:pPr marL="0" indent="0" algn="l">
              <a:lnSpc>
                <a:spcPts val="2000"/>
              </a:lnSpc>
              <a:buNone/>
            </a:pPr>
            <a:r>
              <a:rPr lang="en-US" sz="1250" b="1" dirty="0">
                <a:solidFill>
                  <a:srgbClr val="000000"/>
                </a:solidFill>
                <a:latin typeface="Nunito Sans" pitchFamily="34" charset="0"/>
                <a:ea typeface="Nunito Sans" pitchFamily="34" charset="-122"/>
                <a:cs typeface="Nunito Sans" pitchFamily="34" charset="-120"/>
              </a:rPr>
              <a:t>Output:</a:t>
            </a:r>
            <a:r>
              <a:rPr lang="en-US" sz="1250" dirty="0">
                <a:solidFill>
                  <a:srgbClr val="000000"/>
                </a:solidFill>
                <a:latin typeface="Nunito Sans" pitchFamily="34" charset="0"/>
                <a:ea typeface="Nunito Sans" pitchFamily="34" charset="-122"/>
                <a:cs typeface="Nunito Sans" pitchFamily="34" charset="-120"/>
              </a:rPr>
              <a:t> Vector 768 chiều</a:t>
            </a:r>
            <a:endParaRPr lang="en-US" sz="1250" dirty="0"/>
          </a:p>
        </p:txBody>
      </p:sp>
      <p:sp>
        <p:nvSpPr>
          <p:cNvPr id="17" name="Shape 15"/>
          <p:cNvSpPr/>
          <p:nvPr/>
        </p:nvSpPr>
        <p:spPr>
          <a:xfrm>
            <a:off x="832842" y="6786086"/>
            <a:ext cx="6786324" cy="502087"/>
          </a:xfrm>
          <a:prstGeom prst="roundRect">
            <a:avLst>
              <a:gd name="adj" fmla="val 13554"/>
            </a:avLst>
          </a:prstGeom>
          <a:solidFill>
            <a:srgbClr val="F2F2F2"/>
          </a:solidFill>
          <a:ln/>
        </p:spPr>
        <p:txBody>
          <a:bodyPr/>
          <a:lstStyle/>
          <a:p>
            <a:endParaRPr lang="en-US"/>
          </a:p>
        </p:txBody>
      </p:sp>
      <p:sp>
        <p:nvSpPr>
          <p:cNvPr id="18" name="Shape 16"/>
          <p:cNvSpPr/>
          <p:nvPr/>
        </p:nvSpPr>
        <p:spPr>
          <a:xfrm>
            <a:off x="824746" y="6786086"/>
            <a:ext cx="6802517" cy="502087"/>
          </a:xfrm>
          <a:prstGeom prst="roundRect">
            <a:avLst>
              <a:gd name="adj" fmla="val 4841"/>
            </a:avLst>
          </a:prstGeom>
          <a:solidFill>
            <a:srgbClr val="F2F2F2"/>
          </a:solidFill>
          <a:ln/>
        </p:spPr>
        <p:txBody>
          <a:bodyPr/>
          <a:lstStyle/>
          <a:p>
            <a:endParaRPr lang="en-US"/>
          </a:p>
        </p:txBody>
      </p:sp>
      <p:sp>
        <p:nvSpPr>
          <p:cNvPr id="19" name="Text 17"/>
          <p:cNvSpPr/>
          <p:nvPr/>
        </p:nvSpPr>
        <p:spPr>
          <a:xfrm>
            <a:off x="986671" y="6907530"/>
            <a:ext cx="6478667" cy="25919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highlight>
                  <a:srgbClr val="F2F2F2"/>
                </a:highlight>
                <a:latin typeface="Consolas" pitchFamily="34" charset="0"/>
                <a:ea typeface="Consolas" pitchFamily="34" charset="-122"/>
                <a:cs typeface="Consolas" pitchFamily="34" charset="-120"/>
              </a:rPr>
              <a:t>[0.142, -0.891, 0.523, ..., 0.301]</a:t>
            </a:r>
            <a:endParaRPr lang="en-US" sz="1250" dirty="0"/>
          </a:p>
        </p:txBody>
      </p:sp>
      <p:sp>
        <p:nvSpPr>
          <p:cNvPr id="20" name="Text 18"/>
          <p:cNvSpPr/>
          <p:nvPr/>
        </p:nvSpPr>
        <p:spPr>
          <a:xfrm>
            <a:off x="8206859" y="2295525"/>
            <a:ext cx="3002875" cy="303728"/>
          </a:xfrm>
          <a:prstGeom prst="rect">
            <a:avLst/>
          </a:prstGeom>
          <a:noFill/>
          <a:ln/>
        </p:spPr>
        <p:txBody>
          <a:bodyPr wrap="none" lIns="0" tIns="0" rIns="0" bIns="0" rtlCol="0" anchor="t"/>
          <a:lstStyle/>
          <a:p>
            <a:pPr marL="0" indent="0" algn="l">
              <a:lnSpc>
                <a:spcPts val="2350"/>
              </a:lnSpc>
              <a:buNone/>
            </a:pPr>
            <a:r>
              <a:rPr lang="en-US" sz="1900" b="1" dirty="0">
                <a:solidFill>
                  <a:srgbClr val="000000"/>
                </a:solidFill>
                <a:latin typeface="Nunito Sans Bold" pitchFamily="34" charset="0"/>
                <a:ea typeface="Nunito Sans Bold" pitchFamily="34" charset="-122"/>
                <a:cs typeface="Nunito Sans Bold" pitchFamily="34" charset="-120"/>
              </a:rPr>
              <a:t>Ưu Điểm của Dense Vector</a:t>
            </a:r>
            <a:endParaRPr lang="en-US" sz="1900" dirty="0"/>
          </a:p>
        </p:txBody>
      </p:sp>
      <p:sp>
        <p:nvSpPr>
          <p:cNvPr id="21" name="Text 19"/>
          <p:cNvSpPr/>
          <p:nvPr/>
        </p:nvSpPr>
        <p:spPr>
          <a:xfrm>
            <a:off x="8206859" y="2761178"/>
            <a:ext cx="5782985" cy="518398"/>
          </a:xfrm>
          <a:prstGeom prst="rect">
            <a:avLst/>
          </a:prstGeom>
          <a:noFill/>
          <a:ln/>
        </p:spPr>
        <p:txBody>
          <a:bodyPr wrap="square" lIns="0" tIns="0" rIns="0" bIns="0" rtlCol="0" anchor="t"/>
          <a:lstStyle/>
          <a:p>
            <a:pPr marL="342900" indent="-342900" algn="l">
              <a:lnSpc>
                <a:spcPts val="2000"/>
              </a:lnSpc>
              <a:buSzPct val="100000"/>
              <a:buChar char="•"/>
            </a:pPr>
            <a:r>
              <a:rPr lang="en-US" sz="1250" b="1" dirty="0">
                <a:solidFill>
                  <a:srgbClr val="0A5FA3"/>
                </a:solidFill>
                <a:latin typeface="Nunito Sans" pitchFamily="34" charset="0"/>
                <a:ea typeface="Nunito Sans" pitchFamily="34" charset="-122"/>
                <a:cs typeface="Nunito Sans" pitchFamily="34" charset="-120"/>
              </a:rPr>
              <a:t>Hiểu ngữ nghĩa sâu:</a:t>
            </a:r>
            <a:r>
              <a:rPr lang="en-US" sz="1250" dirty="0">
                <a:solidFill>
                  <a:srgbClr val="000000"/>
                </a:solidFill>
                <a:latin typeface="Nunito Sans" pitchFamily="34" charset="0"/>
                <a:ea typeface="Nunito Sans" pitchFamily="34" charset="-122"/>
                <a:cs typeface="Nunito Sans" pitchFamily="34" charset="-120"/>
              </a:rPr>
              <a:t> Các câu có cùng ý nghĩa nhưng dùng từ khác nhau vẫn có vector tương đồng</a:t>
            </a:r>
            <a:endParaRPr lang="en-US" sz="1250" dirty="0"/>
          </a:p>
        </p:txBody>
      </p:sp>
      <p:sp>
        <p:nvSpPr>
          <p:cNvPr id="22" name="Text 20"/>
          <p:cNvSpPr/>
          <p:nvPr/>
        </p:nvSpPr>
        <p:spPr>
          <a:xfrm>
            <a:off x="8206859" y="3336250"/>
            <a:ext cx="5782985" cy="259199"/>
          </a:xfrm>
          <a:prstGeom prst="rect">
            <a:avLst/>
          </a:prstGeom>
          <a:noFill/>
          <a:ln/>
        </p:spPr>
        <p:txBody>
          <a:bodyPr wrap="none" lIns="0" tIns="0" rIns="0" bIns="0" rtlCol="0" anchor="t"/>
          <a:lstStyle/>
          <a:p>
            <a:pPr marL="342900" indent="-342900" algn="l">
              <a:lnSpc>
                <a:spcPts val="2000"/>
              </a:lnSpc>
              <a:buSzPct val="100000"/>
              <a:buChar char="•"/>
            </a:pPr>
            <a:r>
              <a:rPr lang="en-US" sz="1250" b="1" dirty="0">
                <a:solidFill>
                  <a:srgbClr val="70B603"/>
                </a:solidFill>
                <a:latin typeface="Nunito Sans" pitchFamily="34" charset="0"/>
                <a:ea typeface="Nunito Sans" pitchFamily="34" charset="-122"/>
                <a:cs typeface="Nunito Sans" pitchFamily="34" charset="-120"/>
              </a:rPr>
              <a:t>Xử lý đồng nghĩa:</a:t>
            </a:r>
            <a:r>
              <a:rPr lang="en-US" sz="1250" dirty="0">
                <a:solidFill>
                  <a:srgbClr val="000000"/>
                </a:solidFill>
                <a:latin typeface="Nunito Sans" pitchFamily="34" charset="0"/>
                <a:ea typeface="Nunito Sans" pitchFamily="34" charset="-122"/>
                <a:cs typeface="Nunito Sans" pitchFamily="34" charset="-120"/>
              </a:rPr>
              <a:t> "đóng BHYT" ≈ "tham gia bảo hiểm y tế"</a:t>
            </a:r>
            <a:endParaRPr lang="en-US" sz="1250" dirty="0"/>
          </a:p>
        </p:txBody>
      </p:sp>
      <p:sp>
        <p:nvSpPr>
          <p:cNvPr id="23" name="Text 21"/>
          <p:cNvSpPr/>
          <p:nvPr/>
        </p:nvSpPr>
        <p:spPr>
          <a:xfrm>
            <a:off x="8206859" y="3652123"/>
            <a:ext cx="5782985" cy="259199"/>
          </a:xfrm>
          <a:prstGeom prst="rect">
            <a:avLst/>
          </a:prstGeom>
          <a:noFill/>
          <a:ln/>
        </p:spPr>
        <p:txBody>
          <a:bodyPr wrap="none" lIns="0" tIns="0" rIns="0" bIns="0" rtlCol="0" anchor="t"/>
          <a:lstStyle/>
          <a:p>
            <a:pPr marL="342900" indent="-342900" algn="l">
              <a:lnSpc>
                <a:spcPts val="2000"/>
              </a:lnSpc>
              <a:buSzPct val="100000"/>
              <a:buChar char="•"/>
            </a:pPr>
            <a:r>
              <a:rPr lang="en-US" sz="1250" b="1" dirty="0">
                <a:solidFill>
                  <a:srgbClr val="00AF50"/>
                </a:solidFill>
                <a:latin typeface="Nunito Sans" pitchFamily="34" charset="0"/>
                <a:ea typeface="Nunito Sans" pitchFamily="34" charset="-122"/>
                <a:cs typeface="Nunito Sans" pitchFamily="34" charset="-120"/>
              </a:rPr>
              <a:t>Robust với typo:</a:t>
            </a:r>
            <a:r>
              <a:rPr lang="en-US" sz="1250" dirty="0">
                <a:solidFill>
                  <a:srgbClr val="000000"/>
                </a:solidFill>
                <a:latin typeface="Nunito Sans" pitchFamily="34" charset="0"/>
                <a:ea typeface="Nunito Sans" pitchFamily="34" charset="-122"/>
                <a:cs typeface="Nunito Sans" pitchFamily="34" charset="-120"/>
              </a:rPr>
              <a:t> Chống nhiễu tốt với lỗi chính tả nhỏ</a:t>
            </a:r>
            <a:endParaRPr lang="en-US" sz="1250" dirty="0"/>
          </a:p>
        </p:txBody>
      </p:sp>
      <p:sp>
        <p:nvSpPr>
          <p:cNvPr id="24" name="Text 22"/>
          <p:cNvSpPr/>
          <p:nvPr/>
        </p:nvSpPr>
        <p:spPr>
          <a:xfrm>
            <a:off x="8206859" y="4073247"/>
            <a:ext cx="2430423" cy="303728"/>
          </a:xfrm>
          <a:prstGeom prst="rect">
            <a:avLst/>
          </a:prstGeom>
          <a:noFill/>
          <a:ln/>
        </p:spPr>
        <p:txBody>
          <a:bodyPr wrap="none" lIns="0" tIns="0" rIns="0" bIns="0" rtlCol="0" anchor="t"/>
          <a:lstStyle/>
          <a:p>
            <a:pPr marL="0" indent="0" algn="l">
              <a:lnSpc>
                <a:spcPts val="2350"/>
              </a:lnSpc>
              <a:buNone/>
            </a:pPr>
            <a:r>
              <a:rPr lang="en-US" sz="1900" b="1" dirty="0">
                <a:solidFill>
                  <a:srgbClr val="000000"/>
                </a:solidFill>
                <a:latin typeface="Nunito Sans Bold" pitchFamily="34" charset="0"/>
                <a:ea typeface="Nunito Sans Bold" pitchFamily="34" charset="-122"/>
                <a:cs typeface="Nunito Sans Bold" pitchFamily="34" charset="-120"/>
              </a:rPr>
              <a:t>Hạn Chế</a:t>
            </a:r>
            <a:endParaRPr lang="en-US" sz="1900" dirty="0"/>
          </a:p>
        </p:txBody>
      </p:sp>
      <p:sp>
        <p:nvSpPr>
          <p:cNvPr id="25" name="Shape 23"/>
          <p:cNvSpPr/>
          <p:nvPr/>
        </p:nvSpPr>
        <p:spPr>
          <a:xfrm>
            <a:off x="8206859" y="4559260"/>
            <a:ext cx="5782985" cy="947499"/>
          </a:xfrm>
          <a:prstGeom prst="roundRect">
            <a:avLst>
              <a:gd name="adj" fmla="val 7183"/>
            </a:avLst>
          </a:prstGeom>
          <a:solidFill>
            <a:srgbClr val="B7DDFB"/>
          </a:solidFill>
          <a:ln/>
        </p:spPr>
        <p:txBody>
          <a:bodyPr/>
          <a:lstStyle/>
          <a:p>
            <a:endParaRPr lang="en-US"/>
          </a:p>
        </p:txBody>
      </p:sp>
      <p:pic>
        <p:nvPicPr>
          <p:cNvPr id="26" name="Image 0" descr="preencoded.png"/>
          <p:cNvPicPr>
            <a:picLocks noChangeAspect="1"/>
          </p:cNvPicPr>
          <p:nvPr/>
        </p:nvPicPr>
        <p:blipFill>
          <a:blip r:embed="rId3"/>
          <a:stretch>
            <a:fillRect/>
          </a:stretch>
        </p:blipFill>
        <p:spPr>
          <a:xfrm>
            <a:off x="8368784" y="4795242"/>
            <a:ext cx="202525" cy="161925"/>
          </a:xfrm>
          <a:prstGeom prst="rect">
            <a:avLst/>
          </a:prstGeom>
        </p:spPr>
      </p:pic>
      <p:sp>
        <p:nvSpPr>
          <p:cNvPr id="27" name="Text 24"/>
          <p:cNvSpPr/>
          <p:nvPr/>
        </p:nvSpPr>
        <p:spPr>
          <a:xfrm>
            <a:off x="8733234" y="4761667"/>
            <a:ext cx="5094684" cy="518398"/>
          </a:xfrm>
          <a:prstGeom prst="rect">
            <a:avLst/>
          </a:prstGeom>
          <a:noFill/>
          <a:ln/>
        </p:spPr>
        <p:txBody>
          <a:bodyPr wrap="square" lIns="0" tIns="0" rIns="0" bIns="0" rtlCol="0" anchor="t"/>
          <a:lstStyle/>
          <a:p>
            <a:pPr marL="0" indent="0" algn="l">
              <a:lnSpc>
                <a:spcPts val="2000"/>
              </a:lnSpc>
              <a:buNone/>
            </a:pPr>
            <a:r>
              <a:rPr lang="en-US" sz="1250" dirty="0">
                <a:solidFill>
                  <a:srgbClr val="000000"/>
                </a:solidFill>
                <a:latin typeface="Nunito Sans" pitchFamily="34" charset="0"/>
                <a:ea typeface="Nunito Sans" pitchFamily="34" charset="-122"/>
                <a:cs typeface="Nunito Sans" pitchFamily="34" charset="-120"/>
              </a:rPr>
              <a:t>Dense Model đôi khi "thông minh quá" - có thể bỏ qua từ khóa chính xác. VD: tìm "100 triệu đồng" nhưng trả về "khoản tiền lớn".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83989" y="332780"/>
            <a:ext cx="6252210" cy="378143"/>
          </a:xfrm>
          <a:prstGeom prst="rect">
            <a:avLst/>
          </a:prstGeom>
          <a:noFill/>
          <a:ln/>
        </p:spPr>
        <p:txBody>
          <a:bodyPr wrap="none" lIns="0" tIns="0" rIns="0" bIns="0" rtlCol="0" anchor="t"/>
          <a:lstStyle/>
          <a:p>
            <a:pPr marL="0" indent="0" algn="l">
              <a:lnSpc>
                <a:spcPts val="2950"/>
              </a:lnSpc>
              <a:buNone/>
            </a:pPr>
            <a:r>
              <a:rPr lang="en-US" sz="2350" b="1" dirty="0">
                <a:solidFill>
                  <a:srgbClr val="000000"/>
                </a:solidFill>
                <a:latin typeface="Nunito Sans Bold" pitchFamily="34" charset="0"/>
                <a:ea typeface="Nunito Sans Bold" pitchFamily="34" charset="-122"/>
                <a:cs typeface="Nunito Sans Bold" pitchFamily="34" charset="-120"/>
              </a:rPr>
              <a:t>Sparse Embedding - Mô Hình Từ Khóa BM25</a:t>
            </a:r>
            <a:endParaRPr lang="en-US" sz="2350" dirty="0"/>
          </a:p>
        </p:txBody>
      </p:sp>
      <p:sp>
        <p:nvSpPr>
          <p:cNvPr id="3" name="Text 1"/>
          <p:cNvSpPr/>
          <p:nvPr/>
        </p:nvSpPr>
        <p:spPr>
          <a:xfrm>
            <a:off x="483989" y="1013341"/>
            <a:ext cx="1815227" cy="226933"/>
          </a:xfrm>
          <a:prstGeom prst="rect">
            <a:avLst/>
          </a:prstGeom>
          <a:noFill/>
          <a:ln/>
        </p:spPr>
        <p:txBody>
          <a:bodyPr wrap="none" lIns="0" tIns="0" rIns="0" bIns="0" rtlCol="0" anchor="t"/>
          <a:lstStyle/>
          <a:p>
            <a:pPr marL="0" indent="0" algn="l">
              <a:lnSpc>
                <a:spcPts val="1750"/>
              </a:lnSpc>
              <a:buNone/>
            </a:pPr>
            <a:r>
              <a:rPr lang="en-US" sz="1400" b="1" dirty="0">
                <a:solidFill>
                  <a:srgbClr val="000000"/>
                </a:solidFill>
                <a:latin typeface="Nunito Sans Bold" pitchFamily="34" charset="0"/>
                <a:ea typeface="Nunito Sans Bold" pitchFamily="34" charset="-122"/>
                <a:cs typeface="Nunito Sans Bold" pitchFamily="34" charset="-120"/>
              </a:rPr>
              <a:t>Tại Sao Cần BM25?</a:t>
            </a:r>
            <a:endParaRPr lang="en-US" sz="1400" dirty="0"/>
          </a:p>
        </p:txBody>
      </p:sp>
      <p:sp>
        <p:nvSpPr>
          <p:cNvPr id="4" name="Text 2"/>
          <p:cNvSpPr/>
          <p:nvPr/>
        </p:nvSpPr>
        <p:spPr>
          <a:xfrm>
            <a:off x="483989" y="1361242"/>
            <a:ext cx="6683573" cy="386953"/>
          </a:xfrm>
          <a:prstGeom prst="rect">
            <a:avLst/>
          </a:prstGeom>
          <a:noFill/>
          <a:ln/>
        </p:spPr>
        <p:txBody>
          <a:bodyPr wrap="square" lIns="0" tIns="0" rIns="0" bIns="0" rtlCol="0" anchor="t"/>
          <a:lstStyle/>
          <a:p>
            <a:pPr marL="0" indent="0" algn="l">
              <a:lnSpc>
                <a:spcPts val="1500"/>
              </a:lnSpc>
              <a:buNone/>
            </a:pPr>
            <a:r>
              <a:rPr lang="en-US" sz="950" dirty="0">
                <a:solidFill>
                  <a:srgbClr val="000000"/>
                </a:solidFill>
                <a:latin typeface="Nunito Sans" pitchFamily="34" charset="0"/>
                <a:ea typeface="Nunito Sans" pitchFamily="34" charset="-122"/>
                <a:cs typeface="Nunito Sans" pitchFamily="34" charset="-120"/>
              </a:rPr>
              <a:t>Dense Embedding mạnh về ngữ nghĩa nhưng đôi khi bỏ quên </a:t>
            </a:r>
            <a:r>
              <a:rPr lang="en-US" sz="950" b="1" dirty="0">
                <a:solidFill>
                  <a:srgbClr val="000000"/>
                </a:solidFill>
                <a:latin typeface="Nunito Sans" pitchFamily="34" charset="0"/>
                <a:ea typeface="Nunito Sans" pitchFamily="34" charset="-122"/>
                <a:cs typeface="Nunito Sans" pitchFamily="34" charset="-120"/>
              </a:rPr>
              <a:t>từ khóa chính xác</a:t>
            </a:r>
            <a:r>
              <a:rPr lang="en-US" sz="950" dirty="0">
                <a:solidFill>
                  <a:srgbClr val="000000"/>
                </a:solidFill>
                <a:latin typeface="Nunito Sans" pitchFamily="34" charset="0"/>
                <a:ea typeface="Nunito Sans" pitchFamily="34" charset="-122"/>
                <a:cs typeface="Nunito Sans" pitchFamily="34" charset="-120"/>
              </a:rPr>
              <a:t>. Trong pháp luật, các con số, thuật ngữ chuyên môn phải khớp tuyệt đối.</a:t>
            </a:r>
            <a:endParaRPr lang="en-US" sz="950" dirty="0"/>
          </a:p>
        </p:txBody>
      </p:sp>
      <p:sp>
        <p:nvSpPr>
          <p:cNvPr id="6" name="Text 3"/>
          <p:cNvSpPr/>
          <p:nvPr/>
        </p:nvSpPr>
        <p:spPr>
          <a:xfrm>
            <a:off x="483989" y="8703945"/>
            <a:ext cx="2475786" cy="226933"/>
          </a:xfrm>
          <a:prstGeom prst="rect">
            <a:avLst/>
          </a:prstGeom>
          <a:noFill/>
          <a:ln/>
        </p:spPr>
        <p:txBody>
          <a:bodyPr wrap="none" lIns="0" tIns="0" rIns="0" bIns="0" rtlCol="0" anchor="t"/>
          <a:lstStyle/>
          <a:p>
            <a:pPr marL="0" indent="0" algn="l">
              <a:lnSpc>
                <a:spcPts val="1750"/>
              </a:lnSpc>
              <a:buNone/>
            </a:pPr>
            <a:r>
              <a:rPr lang="en-US" sz="1400" b="1" dirty="0">
                <a:solidFill>
                  <a:srgbClr val="000000"/>
                </a:solidFill>
                <a:latin typeface="Nunito Sans Bold" pitchFamily="34" charset="0"/>
                <a:ea typeface="Nunito Sans Bold" pitchFamily="34" charset="-122"/>
                <a:cs typeface="Nunito Sans Bold" pitchFamily="34" charset="-120"/>
              </a:rPr>
              <a:t>BM25 - Nâng Cấp của TF-IDF</a:t>
            </a:r>
            <a:endParaRPr lang="en-US" sz="1400" dirty="0"/>
          </a:p>
        </p:txBody>
      </p:sp>
      <p:sp>
        <p:nvSpPr>
          <p:cNvPr id="7" name="Text 4"/>
          <p:cNvSpPr/>
          <p:nvPr/>
        </p:nvSpPr>
        <p:spPr>
          <a:xfrm>
            <a:off x="483989" y="9051846"/>
            <a:ext cx="6683573" cy="193477"/>
          </a:xfrm>
          <a:prstGeom prst="rect">
            <a:avLst/>
          </a:prstGeom>
          <a:noFill/>
          <a:ln/>
        </p:spPr>
        <p:txBody>
          <a:bodyPr wrap="none" lIns="0" tIns="0" rIns="0" bIns="0" rtlCol="0" anchor="t"/>
          <a:lstStyle/>
          <a:p>
            <a:pPr marL="0" indent="0" algn="l">
              <a:lnSpc>
                <a:spcPts val="1500"/>
              </a:lnSpc>
              <a:buNone/>
            </a:pPr>
            <a:r>
              <a:rPr lang="en-US" sz="950" dirty="0">
                <a:solidFill>
                  <a:srgbClr val="000000"/>
                </a:solidFill>
                <a:latin typeface="Nunito Sans" pitchFamily="34" charset="0"/>
                <a:ea typeface="Nunito Sans" pitchFamily="34" charset="-122"/>
                <a:cs typeface="Nunito Sans" pitchFamily="34" charset="-120"/>
              </a:rPr>
              <a:t>BM25 (Best Matching 25) là thuật toán xếp hạng dựa trên tần suất từ, được cải tiến để phù hợp với tìm kiếm thực tế.</a:t>
            </a:r>
            <a:endParaRPr lang="en-US" sz="950" dirty="0"/>
          </a:p>
        </p:txBody>
      </p:sp>
      <p:sp>
        <p:nvSpPr>
          <p:cNvPr id="8" name="Text 5"/>
          <p:cNvSpPr/>
          <p:nvPr/>
        </p:nvSpPr>
        <p:spPr>
          <a:xfrm>
            <a:off x="7470458" y="1013341"/>
            <a:ext cx="1865948" cy="226933"/>
          </a:xfrm>
          <a:prstGeom prst="rect">
            <a:avLst/>
          </a:prstGeom>
          <a:noFill/>
          <a:ln/>
        </p:spPr>
        <p:txBody>
          <a:bodyPr wrap="none" lIns="0" tIns="0" rIns="0" bIns="0" rtlCol="0" anchor="t"/>
          <a:lstStyle/>
          <a:p>
            <a:pPr marL="0" indent="0" algn="l">
              <a:lnSpc>
                <a:spcPts val="1750"/>
              </a:lnSpc>
              <a:buNone/>
            </a:pPr>
            <a:r>
              <a:rPr lang="en-US" sz="1400" b="1" dirty="0">
                <a:solidFill>
                  <a:srgbClr val="000000"/>
                </a:solidFill>
                <a:latin typeface="Nunito Sans Bold" pitchFamily="34" charset="0"/>
                <a:ea typeface="Nunito Sans Bold" pitchFamily="34" charset="-122"/>
                <a:cs typeface="Nunito Sans Bold" pitchFamily="34" charset="-120"/>
              </a:rPr>
              <a:t>Công Thức Hoạt Động</a:t>
            </a:r>
            <a:endParaRPr lang="en-US" sz="1400" dirty="0"/>
          </a:p>
        </p:txBody>
      </p:sp>
      <p:sp>
        <p:nvSpPr>
          <p:cNvPr id="9" name="Text 6"/>
          <p:cNvSpPr/>
          <p:nvPr/>
        </p:nvSpPr>
        <p:spPr>
          <a:xfrm>
            <a:off x="7470458" y="1376363"/>
            <a:ext cx="120968" cy="151209"/>
          </a:xfrm>
          <a:prstGeom prst="rect">
            <a:avLst/>
          </a:prstGeom>
          <a:noFill/>
          <a:ln/>
        </p:spPr>
        <p:txBody>
          <a:bodyPr wrap="none" lIns="0" tIns="0" rIns="0" bIns="0" rtlCol="0" anchor="t"/>
          <a:lstStyle/>
          <a:p>
            <a:pPr marL="0" indent="0" algn="l">
              <a:lnSpc>
                <a:spcPts val="1500"/>
              </a:lnSpc>
              <a:buNone/>
            </a:pPr>
            <a:r>
              <a:rPr lang="en-US" sz="950" dirty="0">
                <a:solidFill>
                  <a:srgbClr val="000000"/>
                </a:solidFill>
                <a:latin typeface="Nunito Sans Light" pitchFamily="34" charset="0"/>
                <a:ea typeface="Nunito Sans Light" pitchFamily="34" charset="-122"/>
                <a:cs typeface="Nunito Sans Light" pitchFamily="34" charset="-120"/>
              </a:rPr>
              <a:t>01</a:t>
            </a:r>
            <a:endParaRPr lang="en-US" sz="950" dirty="0"/>
          </a:p>
        </p:txBody>
      </p:sp>
      <p:sp>
        <p:nvSpPr>
          <p:cNvPr id="10" name="Shape 7"/>
          <p:cNvSpPr/>
          <p:nvPr/>
        </p:nvSpPr>
        <p:spPr>
          <a:xfrm>
            <a:off x="7470458" y="1566743"/>
            <a:ext cx="6683573" cy="15240"/>
          </a:xfrm>
          <a:prstGeom prst="rect">
            <a:avLst/>
          </a:prstGeom>
          <a:solidFill>
            <a:srgbClr val="0A5FA3"/>
          </a:solidFill>
          <a:ln/>
        </p:spPr>
        <p:txBody>
          <a:bodyPr/>
          <a:lstStyle/>
          <a:p>
            <a:endParaRPr lang="en-US"/>
          </a:p>
        </p:txBody>
      </p:sp>
      <p:sp>
        <p:nvSpPr>
          <p:cNvPr id="11" name="Text 8"/>
          <p:cNvSpPr/>
          <p:nvPr/>
        </p:nvSpPr>
        <p:spPr>
          <a:xfrm>
            <a:off x="7470458" y="1657707"/>
            <a:ext cx="1512689" cy="189071"/>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Nunito Sans Bold" pitchFamily="34" charset="0"/>
                <a:ea typeface="Nunito Sans Bold" pitchFamily="34" charset="-122"/>
                <a:cs typeface="Nunito Sans Bold" pitchFamily="34" charset="-120"/>
              </a:rPr>
              <a:t>Term Frequency (TF)</a:t>
            </a:r>
            <a:endParaRPr lang="en-US" sz="1150" dirty="0"/>
          </a:p>
        </p:txBody>
      </p:sp>
      <p:sp>
        <p:nvSpPr>
          <p:cNvPr id="12" name="Text 9"/>
          <p:cNvSpPr/>
          <p:nvPr/>
        </p:nvSpPr>
        <p:spPr>
          <a:xfrm>
            <a:off x="7470458" y="1967746"/>
            <a:ext cx="6683573" cy="193477"/>
          </a:xfrm>
          <a:prstGeom prst="rect">
            <a:avLst/>
          </a:prstGeom>
          <a:noFill/>
          <a:ln/>
        </p:spPr>
        <p:txBody>
          <a:bodyPr wrap="none" lIns="0" tIns="0" rIns="0" bIns="0" rtlCol="0" anchor="t"/>
          <a:lstStyle/>
          <a:p>
            <a:pPr marL="0" indent="0" algn="l">
              <a:lnSpc>
                <a:spcPts val="1500"/>
              </a:lnSpc>
              <a:buNone/>
            </a:pPr>
            <a:r>
              <a:rPr lang="en-US" sz="950" dirty="0">
                <a:solidFill>
                  <a:srgbClr val="000000"/>
                </a:solidFill>
                <a:latin typeface="Nunito Sans" pitchFamily="34" charset="0"/>
                <a:ea typeface="Nunito Sans" pitchFamily="34" charset="-122"/>
                <a:cs typeface="Nunito Sans" pitchFamily="34" charset="-120"/>
              </a:rPr>
              <a:t>Đếm tần suất từ xuất hiện, có </a:t>
            </a:r>
            <a:r>
              <a:rPr lang="en-US" sz="950" b="1" dirty="0">
                <a:solidFill>
                  <a:srgbClr val="000000"/>
                </a:solidFill>
                <a:latin typeface="Nunito Sans" pitchFamily="34" charset="0"/>
                <a:ea typeface="Nunito Sans" pitchFamily="34" charset="-122"/>
                <a:cs typeface="Nunito Sans" pitchFamily="34" charset="-120"/>
              </a:rPr>
              <a:t>bão hòa</a:t>
            </a:r>
            <a:r>
              <a:rPr lang="en-US" sz="950" dirty="0">
                <a:solidFill>
                  <a:srgbClr val="000000"/>
                </a:solidFill>
                <a:latin typeface="Nunito Sans" pitchFamily="34" charset="0"/>
                <a:ea typeface="Nunito Sans" pitchFamily="34" charset="-122"/>
                <a:cs typeface="Nunito Sans" pitchFamily="34" charset="-120"/>
              </a:rPr>
              <a:t> để tránh từ lặp vô hạn được ưu tiên quá mức</a:t>
            </a:r>
            <a:endParaRPr lang="en-US" sz="950" dirty="0"/>
          </a:p>
        </p:txBody>
      </p:sp>
      <p:sp>
        <p:nvSpPr>
          <p:cNvPr id="13" name="Text 10"/>
          <p:cNvSpPr/>
          <p:nvPr/>
        </p:nvSpPr>
        <p:spPr>
          <a:xfrm>
            <a:off x="7470458" y="2372916"/>
            <a:ext cx="120968" cy="151209"/>
          </a:xfrm>
          <a:prstGeom prst="rect">
            <a:avLst/>
          </a:prstGeom>
          <a:noFill/>
          <a:ln/>
        </p:spPr>
        <p:txBody>
          <a:bodyPr wrap="none" lIns="0" tIns="0" rIns="0" bIns="0" rtlCol="0" anchor="t"/>
          <a:lstStyle/>
          <a:p>
            <a:pPr marL="0" indent="0" algn="l">
              <a:lnSpc>
                <a:spcPts val="1500"/>
              </a:lnSpc>
              <a:buNone/>
            </a:pPr>
            <a:r>
              <a:rPr lang="en-US" sz="950" dirty="0">
                <a:solidFill>
                  <a:srgbClr val="000000"/>
                </a:solidFill>
                <a:latin typeface="Nunito Sans Light" pitchFamily="34" charset="0"/>
                <a:ea typeface="Nunito Sans Light" pitchFamily="34" charset="-122"/>
                <a:cs typeface="Nunito Sans Light" pitchFamily="34" charset="-120"/>
              </a:rPr>
              <a:t>02</a:t>
            </a:r>
            <a:endParaRPr lang="en-US" sz="950" dirty="0"/>
          </a:p>
        </p:txBody>
      </p:sp>
      <p:sp>
        <p:nvSpPr>
          <p:cNvPr id="14" name="Shape 11"/>
          <p:cNvSpPr/>
          <p:nvPr/>
        </p:nvSpPr>
        <p:spPr>
          <a:xfrm>
            <a:off x="7470458" y="2563297"/>
            <a:ext cx="6683573" cy="15240"/>
          </a:xfrm>
          <a:prstGeom prst="rect">
            <a:avLst/>
          </a:prstGeom>
          <a:solidFill>
            <a:srgbClr val="0A5FA3"/>
          </a:solidFill>
          <a:ln/>
        </p:spPr>
        <p:txBody>
          <a:bodyPr/>
          <a:lstStyle/>
          <a:p>
            <a:endParaRPr lang="en-US"/>
          </a:p>
        </p:txBody>
      </p:sp>
      <p:sp>
        <p:nvSpPr>
          <p:cNvPr id="15" name="Text 12"/>
          <p:cNvSpPr/>
          <p:nvPr/>
        </p:nvSpPr>
        <p:spPr>
          <a:xfrm>
            <a:off x="7470458" y="2654260"/>
            <a:ext cx="2426970" cy="189071"/>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Nunito Sans Bold" pitchFamily="34" charset="0"/>
                <a:ea typeface="Nunito Sans Bold" pitchFamily="34" charset="-122"/>
                <a:cs typeface="Nunito Sans Bold" pitchFamily="34" charset="-120"/>
              </a:rPr>
              <a:t>Inverse Document Frequency (IDF)</a:t>
            </a:r>
            <a:endParaRPr lang="en-US" sz="1150" dirty="0"/>
          </a:p>
        </p:txBody>
      </p:sp>
      <p:sp>
        <p:nvSpPr>
          <p:cNvPr id="16" name="Text 13"/>
          <p:cNvSpPr/>
          <p:nvPr/>
        </p:nvSpPr>
        <p:spPr>
          <a:xfrm>
            <a:off x="7470458" y="2964299"/>
            <a:ext cx="6683573" cy="193477"/>
          </a:xfrm>
          <a:prstGeom prst="rect">
            <a:avLst/>
          </a:prstGeom>
          <a:noFill/>
          <a:ln/>
        </p:spPr>
        <p:txBody>
          <a:bodyPr wrap="none" lIns="0" tIns="0" rIns="0" bIns="0" rtlCol="0" anchor="t"/>
          <a:lstStyle/>
          <a:p>
            <a:pPr marL="0" indent="0" algn="l">
              <a:lnSpc>
                <a:spcPts val="1500"/>
              </a:lnSpc>
              <a:buNone/>
            </a:pPr>
            <a:r>
              <a:rPr lang="en-US" sz="950" dirty="0">
                <a:solidFill>
                  <a:srgbClr val="000000"/>
                </a:solidFill>
                <a:latin typeface="Nunito Sans" pitchFamily="34" charset="0"/>
                <a:ea typeface="Nunito Sans" pitchFamily="34" charset="-122"/>
                <a:cs typeface="Nunito Sans" pitchFamily="34" charset="-120"/>
              </a:rPr>
              <a:t>Phạt các từ xuất hiện quá nhiều trong corpus (như "và", "của", "theo") - những từ này ít giá trị</a:t>
            </a:r>
            <a:endParaRPr lang="en-US" sz="950" dirty="0"/>
          </a:p>
        </p:txBody>
      </p:sp>
      <p:sp>
        <p:nvSpPr>
          <p:cNvPr id="17" name="Text 14"/>
          <p:cNvSpPr/>
          <p:nvPr/>
        </p:nvSpPr>
        <p:spPr>
          <a:xfrm>
            <a:off x="7470458" y="3369469"/>
            <a:ext cx="120968" cy="151209"/>
          </a:xfrm>
          <a:prstGeom prst="rect">
            <a:avLst/>
          </a:prstGeom>
          <a:noFill/>
          <a:ln/>
        </p:spPr>
        <p:txBody>
          <a:bodyPr wrap="none" lIns="0" tIns="0" rIns="0" bIns="0" rtlCol="0" anchor="t"/>
          <a:lstStyle/>
          <a:p>
            <a:pPr marL="0" indent="0" algn="l">
              <a:lnSpc>
                <a:spcPts val="1500"/>
              </a:lnSpc>
              <a:buNone/>
            </a:pPr>
            <a:r>
              <a:rPr lang="en-US" sz="950" dirty="0">
                <a:solidFill>
                  <a:srgbClr val="000000"/>
                </a:solidFill>
                <a:latin typeface="Nunito Sans Light" pitchFamily="34" charset="0"/>
                <a:ea typeface="Nunito Sans Light" pitchFamily="34" charset="-122"/>
                <a:cs typeface="Nunito Sans Light" pitchFamily="34" charset="-120"/>
              </a:rPr>
              <a:t>03</a:t>
            </a:r>
            <a:endParaRPr lang="en-US" sz="950" dirty="0"/>
          </a:p>
        </p:txBody>
      </p:sp>
      <p:sp>
        <p:nvSpPr>
          <p:cNvPr id="18" name="Shape 15"/>
          <p:cNvSpPr/>
          <p:nvPr/>
        </p:nvSpPr>
        <p:spPr>
          <a:xfrm>
            <a:off x="7470458" y="3559850"/>
            <a:ext cx="6683573" cy="15240"/>
          </a:xfrm>
          <a:prstGeom prst="rect">
            <a:avLst/>
          </a:prstGeom>
          <a:solidFill>
            <a:srgbClr val="0A5FA3"/>
          </a:solidFill>
          <a:ln/>
        </p:spPr>
        <p:txBody>
          <a:bodyPr/>
          <a:lstStyle/>
          <a:p>
            <a:endParaRPr lang="en-US"/>
          </a:p>
        </p:txBody>
      </p:sp>
      <p:sp>
        <p:nvSpPr>
          <p:cNvPr id="19" name="Text 16"/>
          <p:cNvSpPr/>
          <p:nvPr/>
        </p:nvSpPr>
        <p:spPr>
          <a:xfrm>
            <a:off x="7470458" y="3650813"/>
            <a:ext cx="2283976" cy="189071"/>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Nunito Sans Bold" pitchFamily="34" charset="0"/>
                <a:ea typeface="Nunito Sans Bold" pitchFamily="34" charset="-122"/>
                <a:cs typeface="Nunito Sans Bold" pitchFamily="34" charset="-120"/>
              </a:rPr>
              <a:t>Document Length Normalization</a:t>
            </a:r>
            <a:endParaRPr lang="en-US" sz="1150" dirty="0"/>
          </a:p>
        </p:txBody>
      </p:sp>
      <p:sp>
        <p:nvSpPr>
          <p:cNvPr id="20" name="Text 17"/>
          <p:cNvSpPr/>
          <p:nvPr/>
        </p:nvSpPr>
        <p:spPr>
          <a:xfrm>
            <a:off x="7470458" y="3960852"/>
            <a:ext cx="6683573" cy="193477"/>
          </a:xfrm>
          <a:prstGeom prst="rect">
            <a:avLst/>
          </a:prstGeom>
          <a:noFill/>
          <a:ln/>
        </p:spPr>
        <p:txBody>
          <a:bodyPr wrap="none" lIns="0" tIns="0" rIns="0" bIns="0" rtlCol="0" anchor="t"/>
          <a:lstStyle/>
          <a:p>
            <a:pPr marL="0" indent="0" algn="l">
              <a:lnSpc>
                <a:spcPts val="1500"/>
              </a:lnSpc>
              <a:buNone/>
            </a:pPr>
            <a:r>
              <a:rPr lang="en-US" sz="950" dirty="0">
                <a:solidFill>
                  <a:srgbClr val="000000"/>
                </a:solidFill>
                <a:latin typeface="Nunito Sans" pitchFamily="34" charset="0"/>
                <a:ea typeface="Nunito Sans" pitchFamily="34" charset="-122"/>
                <a:cs typeface="Nunito Sans" pitchFamily="34" charset="-120"/>
              </a:rPr>
              <a:t>Văn bản ngắn được ưu tiên hơn văn bản dài, tránh thiên vị những tài liệu "lê thê"</a:t>
            </a:r>
            <a:endParaRPr lang="en-US" sz="950" dirty="0"/>
          </a:p>
        </p:txBody>
      </p:sp>
      <p:sp>
        <p:nvSpPr>
          <p:cNvPr id="21" name="Text 18"/>
          <p:cNvSpPr/>
          <p:nvPr/>
        </p:nvSpPr>
        <p:spPr>
          <a:xfrm>
            <a:off x="7470458" y="4381143"/>
            <a:ext cx="1815227" cy="226933"/>
          </a:xfrm>
          <a:prstGeom prst="rect">
            <a:avLst/>
          </a:prstGeom>
          <a:noFill/>
          <a:ln/>
        </p:spPr>
        <p:txBody>
          <a:bodyPr wrap="none" lIns="0" tIns="0" rIns="0" bIns="0" rtlCol="0" anchor="t"/>
          <a:lstStyle/>
          <a:p>
            <a:pPr marL="0" indent="0" algn="l">
              <a:lnSpc>
                <a:spcPts val="1750"/>
              </a:lnSpc>
              <a:buNone/>
            </a:pPr>
            <a:r>
              <a:rPr lang="en-US" sz="1400" b="1" dirty="0">
                <a:solidFill>
                  <a:srgbClr val="000000"/>
                </a:solidFill>
                <a:latin typeface="Nunito Sans Bold" pitchFamily="34" charset="0"/>
                <a:ea typeface="Nunito Sans Bold" pitchFamily="34" charset="-122"/>
                <a:cs typeface="Nunito Sans Bold" pitchFamily="34" charset="-120"/>
              </a:rPr>
              <a:t>Cách Thực Hiện</a:t>
            </a:r>
            <a:endParaRPr lang="en-US" sz="1400" dirty="0"/>
          </a:p>
        </p:txBody>
      </p:sp>
      <p:sp>
        <p:nvSpPr>
          <p:cNvPr id="22" name="Text 19"/>
          <p:cNvSpPr/>
          <p:nvPr/>
        </p:nvSpPr>
        <p:spPr>
          <a:xfrm>
            <a:off x="7470458" y="4729043"/>
            <a:ext cx="6683573" cy="193477"/>
          </a:xfrm>
          <a:prstGeom prst="rect">
            <a:avLst/>
          </a:prstGeom>
          <a:noFill/>
          <a:ln/>
        </p:spPr>
        <p:txBody>
          <a:bodyPr wrap="none" lIns="0" tIns="0" rIns="0" bIns="0" rtlCol="0" anchor="t"/>
          <a:lstStyle/>
          <a:p>
            <a:pPr marL="0" indent="0" algn="l">
              <a:lnSpc>
                <a:spcPts val="1500"/>
              </a:lnSpc>
              <a:buNone/>
            </a:pPr>
            <a:r>
              <a:rPr lang="en-US" sz="950" dirty="0">
                <a:solidFill>
                  <a:srgbClr val="000000"/>
                </a:solidFill>
                <a:latin typeface="Nunito Sans" pitchFamily="34" charset="0"/>
                <a:ea typeface="Nunito Sans" pitchFamily="34" charset="-122"/>
                <a:cs typeface="Nunito Sans" pitchFamily="34" charset="-120"/>
              </a:rPr>
              <a:t>Sử dụng </a:t>
            </a:r>
            <a:r>
              <a:rPr lang="en-US" sz="950" b="1" dirty="0">
                <a:solidFill>
                  <a:srgbClr val="000000"/>
                </a:solidFill>
                <a:latin typeface="Nunito Sans" pitchFamily="34" charset="0"/>
                <a:ea typeface="Nunito Sans" pitchFamily="34" charset="-122"/>
                <a:cs typeface="Nunito Sans" pitchFamily="34" charset="-120"/>
              </a:rPr>
              <a:t>Custom BM25 Class</a:t>
            </a:r>
            <a:r>
              <a:rPr lang="en-US" sz="950" dirty="0">
                <a:solidFill>
                  <a:srgbClr val="000000"/>
                </a:solidFill>
                <a:latin typeface="Nunito Sans" pitchFamily="34" charset="0"/>
                <a:ea typeface="Nunito Sans" pitchFamily="34" charset="-122"/>
                <a:cs typeface="Nunito Sans" pitchFamily="34" charset="-120"/>
              </a:rPr>
              <a:t> để tạo Sparse Vector cho mỗi chunk:</a:t>
            </a:r>
            <a:endParaRPr lang="en-US" sz="950" dirty="0"/>
          </a:p>
        </p:txBody>
      </p:sp>
      <p:sp>
        <p:nvSpPr>
          <p:cNvPr id="23" name="Shape 20"/>
          <p:cNvSpPr/>
          <p:nvPr/>
        </p:nvSpPr>
        <p:spPr>
          <a:xfrm>
            <a:off x="7470458" y="5058608"/>
            <a:ext cx="6683573" cy="955358"/>
          </a:xfrm>
          <a:prstGeom prst="roundRect">
            <a:avLst>
              <a:gd name="adj" fmla="val 5320"/>
            </a:avLst>
          </a:prstGeom>
          <a:solidFill>
            <a:srgbClr val="F2F2F2"/>
          </a:solidFill>
          <a:ln/>
        </p:spPr>
        <p:txBody>
          <a:bodyPr/>
          <a:lstStyle/>
          <a:p>
            <a:endParaRPr lang="en-US"/>
          </a:p>
        </p:txBody>
      </p:sp>
      <p:sp>
        <p:nvSpPr>
          <p:cNvPr id="24" name="Shape 21"/>
          <p:cNvSpPr/>
          <p:nvPr/>
        </p:nvSpPr>
        <p:spPr>
          <a:xfrm>
            <a:off x="7464504" y="5058608"/>
            <a:ext cx="6695480" cy="955358"/>
          </a:xfrm>
          <a:prstGeom prst="roundRect">
            <a:avLst>
              <a:gd name="adj" fmla="val 1900"/>
            </a:avLst>
          </a:prstGeom>
          <a:solidFill>
            <a:srgbClr val="F2F2F2"/>
          </a:solidFill>
          <a:ln/>
        </p:spPr>
        <p:txBody>
          <a:bodyPr/>
          <a:lstStyle/>
          <a:p>
            <a:endParaRPr lang="en-US"/>
          </a:p>
        </p:txBody>
      </p:sp>
      <p:sp>
        <p:nvSpPr>
          <p:cNvPr id="25" name="Text 22"/>
          <p:cNvSpPr/>
          <p:nvPr/>
        </p:nvSpPr>
        <p:spPr>
          <a:xfrm>
            <a:off x="7585472" y="5149334"/>
            <a:ext cx="6453545" cy="773906"/>
          </a:xfrm>
          <a:prstGeom prst="rect">
            <a:avLst/>
          </a:prstGeom>
          <a:noFill/>
          <a:ln/>
        </p:spPr>
        <p:txBody>
          <a:bodyPr wrap="square" lIns="0" tIns="0" rIns="0" bIns="0" rtlCol="0" anchor="t"/>
          <a:lstStyle/>
          <a:p>
            <a:pPr marL="0" indent="0" algn="l">
              <a:lnSpc>
                <a:spcPts val="15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sparse_vector = {</a:t>
            </a:r>
            <a:endParaRPr lang="en-US" sz="950" dirty="0"/>
          </a:p>
          <a:p>
            <a:pPr marL="0" indent="0" algn="l">
              <a:lnSpc>
                <a:spcPts val="15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  "indices": [102, 3054, ...],  # ID từ</a:t>
            </a:r>
            <a:endParaRPr lang="en-US" sz="950" dirty="0"/>
          </a:p>
          <a:p>
            <a:pPr marL="0" indent="0" algn="l">
              <a:lnSpc>
                <a:spcPts val="15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  "values": [2.5, 1.8, ...]     # Trọng số</a:t>
            </a:r>
            <a:endParaRPr lang="en-US" sz="950" dirty="0"/>
          </a:p>
          <a:p>
            <a:pPr marL="0" indent="0" algn="l">
              <a:lnSpc>
                <a:spcPts val="15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a:t>
            </a:r>
            <a:endParaRPr lang="en-US" sz="950" dirty="0"/>
          </a:p>
        </p:txBody>
      </p:sp>
      <p:sp>
        <p:nvSpPr>
          <p:cNvPr id="26" name="Text 23"/>
          <p:cNvSpPr/>
          <p:nvPr/>
        </p:nvSpPr>
        <p:spPr>
          <a:xfrm>
            <a:off x="7470458" y="6150054"/>
            <a:ext cx="6683573" cy="193477"/>
          </a:xfrm>
          <a:prstGeom prst="rect">
            <a:avLst/>
          </a:prstGeom>
          <a:noFill/>
          <a:ln/>
        </p:spPr>
        <p:txBody>
          <a:bodyPr wrap="none" lIns="0" tIns="0" rIns="0" bIns="0" rtlCol="0" anchor="t"/>
          <a:lstStyle/>
          <a:p>
            <a:pPr marL="0" indent="0" algn="l">
              <a:lnSpc>
                <a:spcPts val="1500"/>
              </a:lnSpc>
              <a:buNone/>
            </a:pPr>
            <a:r>
              <a:rPr lang="en-US" sz="950" dirty="0">
                <a:solidFill>
                  <a:srgbClr val="000000"/>
                </a:solidFill>
                <a:latin typeface="Nunito Sans" pitchFamily="34" charset="0"/>
                <a:ea typeface="Nunito Sans" pitchFamily="34" charset="-122"/>
                <a:cs typeface="Nunito Sans" pitchFamily="34" charset="-120"/>
              </a:rPr>
              <a:t>Chỉ lưu những từ có ý nghĩa, </a:t>
            </a:r>
            <a:r>
              <a:rPr lang="en-US" sz="950" b="1" dirty="0">
                <a:solidFill>
                  <a:srgbClr val="0A5FA3"/>
                </a:solidFill>
                <a:latin typeface="Nunito Sans" pitchFamily="34" charset="0"/>
                <a:ea typeface="Nunito Sans" pitchFamily="34" charset="-122"/>
                <a:cs typeface="Nunito Sans" pitchFamily="34" charset="-120"/>
              </a:rPr>
              <a:t>tiết kiệm bộ nhớ</a:t>
            </a:r>
            <a:r>
              <a:rPr lang="en-US" sz="950" dirty="0">
                <a:solidFill>
                  <a:srgbClr val="000000"/>
                </a:solidFill>
                <a:latin typeface="Nunito Sans" pitchFamily="34" charset="0"/>
                <a:ea typeface="Nunito Sans" pitchFamily="34" charset="-122"/>
                <a:cs typeface="Nunito Sans" pitchFamily="34" charset="-120"/>
              </a:rPr>
              <a:t> và </a:t>
            </a:r>
            <a:r>
              <a:rPr lang="en-US" sz="950" b="1" dirty="0">
                <a:solidFill>
                  <a:srgbClr val="70B603"/>
                </a:solidFill>
                <a:latin typeface="Nunito Sans" pitchFamily="34" charset="0"/>
                <a:ea typeface="Nunito Sans" pitchFamily="34" charset="-122"/>
                <a:cs typeface="Nunito Sans" pitchFamily="34" charset="-120"/>
              </a:rPr>
              <a:t>tìm kiếm cực nhanh</a:t>
            </a:r>
            <a:r>
              <a:rPr lang="en-US" sz="950" dirty="0">
                <a:solidFill>
                  <a:srgbClr val="000000"/>
                </a:solidFill>
                <a:latin typeface="Nunito Sans" pitchFamily="34" charset="0"/>
                <a:ea typeface="Nunito Sans" pitchFamily="34" charset="-122"/>
                <a:cs typeface="Nunito Sans" pitchFamily="34" charset="-120"/>
              </a:rPr>
              <a: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20078" y="551498"/>
            <a:ext cx="6709291" cy="484346"/>
          </a:xfrm>
          <a:prstGeom prst="rect">
            <a:avLst/>
          </a:prstGeom>
          <a:noFill/>
          <a:ln/>
        </p:spPr>
        <p:txBody>
          <a:bodyPr wrap="none" lIns="0" tIns="0" rIns="0" bIns="0" rtlCol="0" anchor="t"/>
          <a:lstStyle/>
          <a:p>
            <a:pPr marL="0" indent="0" algn="l">
              <a:lnSpc>
                <a:spcPts val="3800"/>
              </a:lnSpc>
              <a:buNone/>
            </a:pPr>
            <a:r>
              <a:rPr lang="en-US" sz="3050" b="1" dirty="0">
                <a:solidFill>
                  <a:srgbClr val="000000"/>
                </a:solidFill>
                <a:latin typeface="Nunito Sans Bold" pitchFamily="34" charset="0"/>
                <a:ea typeface="Nunito Sans Bold" pitchFamily="34" charset="-122"/>
                <a:cs typeface="Nunito Sans Bold" pitchFamily="34" charset="-120"/>
              </a:rPr>
              <a:t>Vector Database &amp; Tổng Hợp Dữ Liệu</a:t>
            </a:r>
            <a:endParaRPr lang="en-US" sz="3050" dirty="0"/>
          </a:p>
        </p:txBody>
      </p:sp>
      <p:sp>
        <p:nvSpPr>
          <p:cNvPr id="3" name="Text 1"/>
          <p:cNvSpPr/>
          <p:nvPr/>
        </p:nvSpPr>
        <p:spPr>
          <a:xfrm>
            <a:off x="620078" y="1423392"/>
            <a:ext cx="2990255" cy="290632"/>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Nunito Sans Bold" pitchFamily="34" charset="0"/>
                <a:ea typeface="Nunito Sans Bold" pitchFamily="34" charset="-122"/>
                <a:cs typeface="Nunito Sans Bold" pitchFamily="34" charset="-120"/>
              </a:rPr>
              <a:t>Lựa Chọn Database: Qdrant</a:t>
            </a:r>
            <a:endParaRPr lang="en-US" sz="1800" dirty="0"/>
          </a:p>
        </p:txBody>
      </p:sp>
      <p:sp>
        <p:nvSpPr>
          <p:cNvPr id="4" name="Text 2"/>
          <p:cNvSpPr/>
          <p:nvPr/>
        </p:nvSpPr>
        <p:spPr>
          <a:xfrm>
            <a:off x="620078" y="1869043"/>
            <a:ext cx="8113632" cy="496014"/>
          </a:xfrm>
          <a:prstGeom prst="rect">
            <a:avLst/>
          </a:prstGeom>
          <a:noFill/>
          <a:ln/>
        </p:spPr>
        <p:txBody>
          <a:bodyPr wrap="square" lIns="0" tIns="0" rIns="0" bIns="0" rtlCol="0" anchor="t"/>
          <a:lstStyle/>
          <a:p>
            <a:pPr marL="0" indent="0" algn="l">
              <a:lnSpc>
                <a:spcPts val="1950"/>
              </a:lnSpc>
              <a:buNone/>
            </a:pPr>
            <a:r>
              <a:rPr lang="en-US" sz="1200" dirty="0">
                <a:solidFill>
                  <a:srgbClr val="000000"/>
                </a:solidFill>
                <a:latin typeface="Nunito Sans" pitchFamily="34" charset="0"/>
                <a:ea typeface="Nunito Sans" pitchFamily="34" charset="-122"/>
                <a:cs typeface="Nunito Sans" pitchFamily="34" charset="-120"/>
              </a:rPr>
              <a:t>Chúng ta cần </a:t>
            </a:r>
            <a:r>
              <a:rPr lang="en-US" sz="1200" dirty="0" err="1">
                <a:solidFill>
                  <a:srgbClr val="000000"/>
                </a:solidFill>
                <a:latin typeface="Nunito Sans" pitchFamily="34" charset="0"/>
                <a:ea typeface="Nunito Sans" pitchFamily="34" charset="-122"/>
                <a:cs typeface="Nunito Sans" pitchFamily="34" charset="-120"/>
              </a:rPr>
              <a:t>một</a:t>
            </a:r>
            <a:r>
              <a:rPr lang="en-US" sz="1200" dirty="0">
                <a:solidFill>
                  <a:srgbClr val="000000"/>
                </a:solidFill>
                <a:latin typeface="Nunito Sans" pitchFamily="34" charset="0"/>
                <a:ea typeface="Nunito Sans" pitchFamily="34" charset="-122"/>
                <a:cs typeface="Nunito Sans" pitchFamily="34" charset="-120"/>
              </a:rPr>
              <a:t> </a:t>
            </a:r>
            <a:r>
              <a:rPr lang="en-US" sz="1200" dirty="0" err="1">
                <a:solidFill>
                  <a:srgbClr val="000000"/>
                </a:solidFill>
                <a:latin typeface="Nunito Sans" pitchFamily="34" charset="0"/>
                <a:ea typeface="Nunito Sans" pitchFamily="34" charset="-122"/>
                <a:cs typeface="Nunito Sans" pitchFamily="34" charset="-120"/>
              </a:rPr>
              <a:t>cơ</a:t>
            </a:r>
            <a:r>
              <a:rPr lang="en-US" sz="1200" dirty="0">
                <a:solidFill>
                  <a:srgbClr val="000000"/>
                </a:solidFill>
                <a:latin typeface="Nunito Sans" pitchFamily="34" charset="0"/>
                <a:ea typeface="Nunito Sans" pitchFamily="34" charset="-122"/>
                <a:cs typeface="Nunito Sans" pitchFamily="34" charset="-120"/>
              </a:rPr>
              <a:t> </a:t>
            </a:r>
            <a:r>
              <a:rPr lang="en-US" sz="1200" dirty="0" err="1">
                <a:solidFill>
                  <a:srgbClr val="000000"/>
                </a:solidFill>
                <a:latin typeface="Nunito Sans" pitchFamily="34" charset="0"/>
                <a:ea typeface="Nunito Sans" pitchFamily="34" charset="-122"/>
                <a:cs typeface="Nunito Sans" pitchFamily="34" charset="-120"/>
              </a:rPr>
              <a:t>sở</a:t>
            </a:r>
            <a:r>
              <a:rPr lang="en-US" sz="1200" dirty="0">
                <a:solidFill>
                  <a:srgbClr val="000000"/>
                </a:solidFill>
                <a:latin typeface="Nunito Sans" pitchFamily="34" charset="0"/>
                <a:ea typeface="Nunito Sans" pitchFamily="34" charset="-122"/>
                <a:cs typeface="Nunito Sans" pitchFamily="34" charset="-120"/>
              </a:rPr>
              <a:t> </a:t>
            </a:r>
            <a:r>
              <a:rPr lang="en-US" sz="1200" dirty="0" err="1">
                <a:solidFill>
                  <a:srgbClr val="000000"/>
                </a:solidFill>
                <a:latin typeface="Nunito Sans" pitchFamily="34" charset="0"/>
                <a:ea typeface="Nunito Sans" pitchFamily="34" charset="-122"/>
                <a:cs typeface="Nunito Sans" pitchFamily="34" charset="-120"/>
              </a:rPr>
              <a:t>dữ</a:t>
            </a:r>
            <a:r>
              <a:rPr lang="en-US" sz="1200" dirty="0">
                <a:solidFill>
                  <a:srgbClr val="000000"/>
                </a:solidFill>
                <a:latin typeface="Nunito Sans" pitchFamily="34" charset="0"/>
                <a:ea typeface="Nunito Sans" pitchFamily="34" charset="-122"/>
                <a:cs typeface="Nunito Sans" pitchFamily="34" charset="-120"/>
              </a:rPr>
              <a:t> </a:t>
            </a:r>
            <a:r>
              <a:rPr lang="en-US" sz="1200" dirty="0" err="1">
                <a:solidFill>
                  <a:srgbClr val="000000"/>
                </a:solidFill>
                <a:latin typeface="Nunito Sans" pitchFamily="34" charset="0"/>
                <a:ea typeface="Nunito Sans" pitchFamily="34" charset="-122"/>
                <a:cs typeface="Nunito Sans" pitchFamily="34" charset="-120"/>
              </a:rPr>
              <a:t>liệu</a:t>
            </a:r>
            <a:r>
              <a:rPr lang="en-US" sz="1200" dirty="0">
                <a:solidFill>
                  <a:srgbClr val="000000"/>
                </a:solidFill>
                <a:latin typeface="Nunito Sans" pitchFamily="34" charset="0"/>
                <a:ea typeface="Nunito Sans" pitchFamily="34" charset="-122"/>
                <a:cs typeface="Nunito Sans" pitchFamily="34" charset="-120"/>
              </a:rPr>
              <a:t> </a:t>
            </a:r>
            <a:r>
              <a:rPr lang="en-US" sz="1200" dirty="0" err="1">
                <a:solidFill>
                  <a:srgbClr val="000000"/>
                </a:solidFill>
                <a:latin typeface="Nunito Sans" pitchFamily="34" charset="0"/>
                <a:ea typeface="Nunito Sans" pitchFamily="34" charset="-122"/>
                <a:cs typeface="Nunito Sans" pitchFamily="34" charset="-120"/>
              </a:rPr>
              <a:t>để</a:t>
            </a:r>
            <a:r>
              <a:rPr lang="en-US" sz="1200" dirty="0">
                <a:solidFill>
                  <a:srgbClr val="000000"/>
                </a:solidFill>
                <a:latin typeface="Nunito Sans" pitchFamily="34" charset="0"/>
                <a:ea typeface="Nunito Sans" pitchFamily="34" charset="-122"/>
                <a:cs typeface="Nunito Sans" pitchFamily="34" charset="-120"/>
              </a:rPr>
              <a:t> lưu trữ cả Dense Vector, Sparse Vector và Metadata, đồng thời hỗ trợ </a:t>
            </a:r>
            <a:r>
              <a:rPr lang="en-US" sz="1200" dirty="0" err="1">
                <a:solidFill>
                  <a:srgbClr val="000000"/>
                </a:solidFill>
                <a:latin typeface="Nunito Sans" pitchFamily="34" charset="0"/>
                <a:ea typeface="Nunito Sans" pitchFamily="34" charset="-122"/>
                <a:cs typeface="Nunito Sans" pitchFamily="34" charset="-120"/>
              </a:rPr>
              <a:t>tìm</a:t>
            </a:r>
            <a:r>
              <a:rPr lang="en-US" sz="1200" dirty="0">
                <a:solidFill>
                  <a:srgbClr val="000000"/>
                </a:solidFill>
                <a:latin typeface="Nunito Sans" pitchFamily="34" charset="0"/>
                <a:ea typeface="Nunito Sans" pitchFamily="34" charset="-122"/>
                <a:cs typeface="Nunito Sans" pitchFamily="34" charset="-120"/>
              </a:rPr>
              <a:t> </a:t>
            </a:r>
            <a:r>
              <a:rPr lang="en-US" sz="1200" dirty="0" err="1">
                <a:solidFill>
                  <a:srgbClr val="000000"/>
                </a:solidFill>
                <a:latin typeface="Nunito Sans" pitchFamily="34" charset="0"/>
                <a:ea typeface="Nunito Sans" pitchFamily="34" charset="-122"/>
                <a:cs typeface="Nunito Sans" pitchFamily="34" charset="-120"/>
              </a:rPr>
              <a:t>kiếm</a:t>
            </a:r>
            <a:r>
              <a:rPr lang="en-US" sz="1200" dirty="0">
                <a:solidFill>
                  <a:srgbClr val="000000"/>
                </a:solidFill>
                <a:latin typeface="Nunito Sans" pitchFamily="34" charset="0"/>
                <a:ea typeface="Nunito Sans" pitchFamily="34" charset="-122"/>
                <a:cs typeface="Nunito Sans" pitchFamily="34" charset="-120"/>
              </a:rPr>
              <a:t> </a:t>
            </a:r>
            <a:r>
              <a:rPr lang="en-US" sz="1200" dirty="0" err="1">
                <a:solidFill>
                  <a:srgbClr val="000000"/>
                </a:solidFill>
                <a:latin typeface="Nunito Sans" pitchFamily="34" charset="0"/>
                <a:ea typeface="Nunito Sans" pitchFamily="34" charset="-122"/>
                <a:cs typeface="Nunito Sans" pitchFamily="34" charset="-120"/>
              </a:rPr>
              <a:t>Hybird</a:t>
            </a:r>
            <a:r>
              <a:rPr lang="en-US" sz="1200" dirty="0">
                <a:solidFill>
                  <a:srgbClr val="000000"/>
                </a:solidFill>
                <a:latin typeface="Nunito Sans" pitchFamily="34" charset="0"/>
                <a:ea typeface="Nunito Sans" pitchFamily="34" charset="-122"/>
                <a:cs typeface="Nunito Sans" pitchFamily="34" charset="-120"/>
              </a:rPr>
              <a:t> search </a:t>
            </a:r>
            <a:r>
              <a:rPr lang="en-US" sz="1200" dirty="0" err="1">
                <a:solidFill>
                  <a:srgbClr val="000000"/>
                </a:solidFill>
                <a:latin typeface="Nunito Sans" pitchFamily="34" charset="0"/>
                <a:ea typeface="Nunito Sans" pitchFamily="34" charset="-122"/>
                <a:cs typeface="Nunito Sans" pitchFamily="34" charset="-120"/>
              </a:rPr>
              <a:t>nhanh</a:t>
            </a:r>
            <a:r>
              <a:rPr lang="en-US" sz="1200" dirty="0">
                <a:solidFill>
                  <a:srgbClr val="000000"/>
                </a:solidFill>
                <a:latin typeface="Nunito Sans" pitchFamily="34" charset="0"/>
                <a:ea typeface="Nunito Sans" pitchFamily="34" charset="-122"/>
                <a:cs typeface="Nunito Sans" pitchFamily="34" charset="-120"/>
              </a:rPr>
              <a:t>.</a:t>
            </a:r>
            <a:endParaRPr lang="en-US" sz="1200" dirty="0"/>
          </a:p>
        </p:txBody>
      </p:sp>
      <p:sp>
        <p:nvSpPr>
          <p:cNvPr id="5" name="Shape 3"/>
          <p:cNvSpPr/>
          <p:nvPr/>
        </p:nvSpPr>
        <p:spPr>
          <a:xfrm>
            <a:off x="620078" y="2539365"/>
            <a:ext cx="7882890" cy="2261354"/>
          </a:xfrm>
          <a:prstGeom prst="roundRect">
            <a:avLst>
              <a:gd name="adj" fmla="val 2879"/>
            </a:avLst>
          </a:prstGeom>
          <a:noFill/>
          <a:ln w="7620">
            <a:solidFill>
              <a:srgbClr val="000000">
                <a:alpha val="8000"/>
              </a:srgbClr>
            </a:solidFill>
            <a:prstDash val="solid"/>
          </a:ln>
        </p:spPr>
        <p:txBody>
          <a:bodyPr/>
          <a:lstStyle/>
          <a:p>
            <a:endParaRPr lang="en-US"/>
          </a:p>
        </p:txBody>
      </p:sp>
      <p:sp>
        <p:nvSpPr>
          <p:cNvPr id="6" name="Shape 4"/>
          <p:cNvSpPr/>
          <p:nvPr/>
        </p:nvSpPr>
        <p:spPr>
          <a:xfrm>
            <a:off x="627698" y="2546985"/>
            <a:ext cx="7867650" cy="449223"/>
          </a:xfrm>
          <a:prstGeom prst="rect">
            <a:avLst/>
          </a:prstGeom>
          <a:solidFill>
            <a:srgbClr val="FFFFFF">
              <a:alpha val="4000"/>
            </a:srgbClr>
          </a:solidFill>
          <a:ln/>
        </p:spPr>
        <p:txBody>
          <a:bodyPr/>
          <a:lstStyle/>
          <a:p>
            <a:endParaRPr lang="en-US"/>
          </a:p>
        </p:txBody>
      </p:sp>
      <p:sp>
        <p:nvSpPr>
          <p:cNvPr id="7" name="Text 5"/>
          <p:cNvSpPr/>
          <p:nvPr/>
        </p:nvSpPr>
        <p:spPr>
          <a:xfrm>
            <a:off x="782717" y="2647593"/>
            <a:ext cx="2046446" cy="248007"/>
          </a:xfrm>
          <a:prstGeom prst="rect">
            <a:avLst/>
          </a:prstGeom>
          <a:noFill/>
          <a:ln/>
        </p:spPr>
        <p:txBody>
          <a:bodyPr wrap="none" lIns="0" tIns="0" rIns="0" bIns="0" rtlCol="0" anchor="t"/>
          <a:lstStyle/>
          <a:p>
            <a:pPr marL="0" indent="0" algn="l">
              <a:lnSpc>
                <a:spcPts val="1950"/>
              </a:lnSpc>
              <a:buNone/>
            </a:pPr>
            <a:r>
              <a:rPr lang="en-US" sz="1200" b="1" dirty="0">
                <a:solidFill>
                  <a:srgbClr val="000000"/>
                </a:solidFill>
                <a:latin typeface="Nunito Sans" pitchFamily="34" charset="0"/>
                <a:ea typeface="Nunito Sans" pitchFamily="34" charset="-122"/>
                <a:cs typeface="Nunito Sans" pitchFamily="34" charset="-120"/>
              </a:rPr>
              <a:t>Tiêu chí</a:t>
            </a:r>
            <a:endParaRPr lang="en-US" sz="1200" dirty="0"/>
          </a:p>
        </p:txBody>
      </p:sp>
      <p:sp>
        <p:nvSpPr>
          <p:cNvPr id="8" name="Text 6"/>
          <p:cNvSpPr/>
          <p:nvPr/>
        </p:nvSpPr>
        <p:spPr>
          <a:xfrm>
            <a:off x="3146822" y="2647593"/>
            <a:ext cx="2436019" cy="248007"/>
          </a:xfrm>
          <a:prstGeom prst="rect">
            <a:avLst/>
          </a:prstGeom>
          <a:noFill/>
          <a:ln/>
        </p:spPr>
        <p:txBody>
          <a:bodyPr wrap="none" lIns="0" tIns="0" rIns="0" bIns="0" rtlCol="0" anchor="t"/>
          <a:lstStyle/>
          <a:p>
            <a:pPr marL="0" indent="0" algn="l">
              <a:lnSpc>
                <a:spcPts val="1950"/>
              </a:lnSpc>
              <a:buNone/>
            </a:pPr>
            <a:r>
              <a:rPr lang="en-US" sz="1200" b="1" dirty="0">
                <a:solidFill>
                  <a:srgbClr val="000000"/>
                </a:solidFill>
                <a:latin typeface="Nunito Sans" pitchFamily="34" charset="0"/>
                <a:ea typeface="Nunito Sans" pitchFamily="34" charset="-122"/>
                <a:cs typeface="Nunito Sans" pitchFamily="34" charset="-120"/>
              </a:rPr>
              <a:t>Qdrant ✓</a:t>
            </a:r>
            <a:endParaRPr lang="en-US" sz="1200" dirty="0"/>
          </a:p>
        </p:txBody>
      </p:sp>
      <p:sp>
        <p:nvSpPr>
          <p:cNvPr id="9" name="Text 7"/>
          <p:cNvSpPr/>
          <p:nvPr/>
        </p:nvSpPr>
        <p:spPr>
          <a:xfrm>
            <a:off x="5900499" y="2647593"/>
            <a:ext cx="2439829" cy="248007"/>
          </a:xfrm>
          <a:prstGeom prst="rect">
            <a:avLst/>
          </a:prstGeom>
          <a:noFill/>
          <a:ln/>
        </p:spPr>
        <p:txBody>
          <a:bodyPr wrap="none" lIns="0" tIns="0" rIns="0" bIns="0" rtlCol="0" anchor="t"/>
          <a:lstStyle/>
          <a:p>
            <a:pPr marL="0" indent="0" algn="l">
              <a:lnSpc>
                <a:spcPts val="1950"/>
              </a:lnSpc>
              <a:buNone/>
            </a:pPr>
            <a:r>
              <a:rPr lang="en-US" sz="1200" b="1" dirty="0">
                <a:solidFill>
                  <a:srgbClr val="000000"/>
                </a:solidFill>
                <a:latin typeface="Nunito Sans" pitchFamily="34" charset="0"/>
                <a:ea typeface="Nunito Sans" pitchFamily="34" charset="-122"/>
                <a:cs typeface="Nunito Sans" pitchFamily="34" charset="-120"/>
              </a:rPr>
              <a:t>Chroma/FAISS</a:t>
            </a:r>
            <a:endParaRPr lang="en-US" sz="1200" dirty="0"/>
          </a:p>
        </p:txBody>
      </p:sp>
      <p:sp>
        <p:nvSpPr>
          <p:cNvPr id="10" name="Shape 8"/>
          <p:cNvSpPr/>
          <p:nvPr/>
        </p:nvSpPr>
        <p:spPr>
          <a:xfrm>
            <a:off x="627698" y="2996208"/>
            <a:ext cx="7867650" cy="449223"/>
          </a:xfrm>
          <a:prstGeom prst="rect">
            <a:avLst/>
          </a:prstGeom>
          <a:solidFill>
            <a:srgbClr val="000000">
              <a:alpha val="4000"/>
            </a:srgbClr>
          </a:solidFill>
          <a:ln/>
        </p:spPr>
        <p:txBody>
          <a:bodyPr/>
          <a:lstStyle/>
          <a:p>
            <a:endParaRPr lang="en-US"/>
          </a:p>
        </p:txBody>
      </p:sp>
      <p:sp>
        <p:nvSpPr>
          <p:cNvPr id="11" name="Text 9"/>
          <p:cNvSpPr/>
          <p:nvPr/>
        </p:nvSpPr>
        <p:spPr>
          <a:xfrm>
            <a:off x="782717" y="3096816"/>
            <a:ext cx="2046446" cy="248007"/>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Nunito Sans" pitchFamily="34" charset="0"/>
                <a:ea typeface="Nunito Sans" pitchFamily="34" charset="-122"/>
                <a:cs typeface="Nunito Sans" pitchFamily="34" charset="-120"/>
              </a:rPr>
              <a:t>Hybrid Search</a:t>
            </a:r>
            <a:endParaRPr lang="en-US" sz="1200" dirty="0"/>
          </a:p>
        </p:txBody>
      </p:sp>
      <p:sp>
        <p:nvSpPr>
          <p:cNvPr id="12" name="Text 10"/>
          <p:cNvSpPr/>
          <p:nvPr/>
        </p:nvSpPr>
        <p:spPr>
          <a:xfrm>
            <a:off x="3146822" y="3096816"/>
            <a:ext cx="2436019" cy="248007"/>
          </a:xfrm>
          <a:prstGeom prst="rect">
            <a:avLst/>
          </a:prstGeom>
          <a:noFill/>
          <a:ln/>
        </p:spPr>
        <p:txBody>
          <a:bodyPr wrap="none" lIns="0" tIns="0" rIns="0" bIns="0" rtlCol="0" anchor="t"/>
          <a:lstStyle/>
          <a:p>
            <a:pPr marL="0" indent="0" algn="l">
              <a:lnSpc>
                <a:spcPts val="1950"/>
              </a:lnSpc>
              <a:buNone/>
            </a:pPr>
            <a:r>
              <a:rPr lang="en-US" sz="1200" b="1" dirty="0">
                <a:solidFill>
                  <a:srgbClr val="00AF50"/>
                </a:solidFill>
                <a:latin typeface="Nunito Sans" pitchFamily="34" charset="0"/>
                <a:ea typeface="Nunito Sans" pitchFamily="34" charset="-122"/>
                <a:cs typeface="Nunito Sans" pitchFamily="34" charset="-120"/>
              </a:rPr>
              <a:t>Native Support</a:t>
            </a:r>
            <a:endParaRPr lang="en-US" sz="1200" dirty="0"/>
          </a:p>
        </p:txBody>
      </p:sp>
      <p:sp>
        <p:nvSpPr>
          <p:cNvPr id="13" name="Text 11"/>
          <p:cNvSpPr/>
          <p:nvPr/>
        </p:nvSpPr>
        <p:spPr>
          <a:xfrm>
            <a:off x="5900499" y="3096816"/>
            <a:ext cx="2439829" cy="248007"/>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Nunito Sans" pitchFamily="34" charset="0"/>
                <a:ea typeface="Nunito Sans" pitchFamily="34" charset="-122"/>
                <a:cs typeface="Nunito Sans" pitchFamily="34" charset="-120"/>
              </a:rPr>
              <a:t>Chỉ Dense</a:t>
            </a:r>
            <a:endParaRPr lang="en-US" sz="1200" dirty="0"/>
          </a:p>
        </p:txBody>
      </p:sp>
      <p:sp>
        <p:nvSpPr>
          <p:cNvPr id="14" name="Shape 12"/>
          <p:cNvSpPr/>
          <p:nvPr/>
        </p:nvSpPr>
        <p:spPr>
          <a:xfrm>
            <a:off x="627698" y="3445431"/>
            <a:ext cx="7867650" cy="449223"/>
          </a:xfrm>
          <a:prstGeom prst="rect">
            <a:avLst/>
          </a:prstGeom>
          <a:solidFill>
            <a:srgbClr val="FFFFFF">
              <a:alpha val="4000"/>
            </a:srgbClr>
          </a:solidFill>
          <a:ln/>
        </p:spPr>
        <p:txBody>
          <a:bodyPr/>
          <a:lstStyle/>
          <a:p>
            <a:endParaRPr lang="en-US"/>
          </a:p>
        </p:txBody>
      </p:sp>
      <p:sp>
        <p:nvSpPr>
          <p:cNvPr id="15" name="Text 13"/>
          <p:cNvSpPr/>
          <p:nvPr/>
        </p:nvSpPr>
        <p:spPr>
          <a:xfrm>
            <a:off x="782717" y="3546038"/>
            <a:ext cx="2046446" cy="248007"/>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Nunito Sans" pitchFamily="34" charset="0"/>
                <a:ea typeface="Nunito Sans" pitchFamily="34" charset="-122"/>
                <a:cs typeface="Nunito Sans" pitchFamily="34" charset="-120"/>
              </a:rPr>
              <a:t>Local Mode</a:t>
            </a:r>
            <a:endParaRPr lang="en-US" sz="1200" dirty="0"/>
          </a:p>
        </p:txBody>
      </p:sp>
      <p:sp>
        <p:nvSpPr>
          <p:cNvPr id="16" name="Text 14"/>
          <p:cNvSpPr/>
          <p:nvPr/>
        </p:nvSpPr>
        <p:spPr>
          <a:xfrm>
            <a:off x="3146822" y="3546038"/>
            <a:ext cx="2436019" cy="248007"/>
          </a:xfrm>
          <a:prstGeom prst="rect">
            <a:avLst/>
          </a:prstGeom>
          <a:noFill/>
          <a:ln/>
        </p:spPr>
        <p:txBody>
          <a:bodyPr wrap="none" lIns="0" tIns="0" rIns="0" bIns="0" rtlCol="0" anchor="t"/>
          <a:lstStyle/>
          <a:p>
            <a:pPr marL="0" indent="0" algn="l">
              <a:lnSpc>
                <a:spcPts val="1950"/>
              </a:lnSpc>
              <a:buNone/>
            </a:pPr>
            <a:r>
              <a:rPr lang="en-US" sz="1200" b="1" dirty="0">
                <a:solidFill>
                  <a:srgbClr val="00AF50"/>
                </a:solidFill>
                <a:latin typeface="Nunito Sans" pitchFamily="34" charset="0"/>
                <a:ea typeface="Nunito Sans" pitchFamily="34" charset="-122"/>
                <a:cs typeface="Nunito Sans" pitchFamily="34" charset="-120"/>
              </a:rPr>
              <a:t>File-based</a:t>
            </a:r>
            <a:endParaRPr lang="en-US" sz="1200" dirty="0"/>
          </a:p>
        </p:txBody>
      </p:sp>
      <p:sp>
        <p:nvSpPr>
          <p:cNvPr id="17" name="Text 15"/>
          <p:cNvSpPr/>
          <p:nvPr/>
        </p:nvSpPr>
        <p:spPr>
          <a:xfrm>
            <a:off x="5900499" y="3546038"/>
            <a:ext cx="2439829" cy="248007"/>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Nunito Sans" pitchFamily="34" charset="0"/>
                <a:ea typeface="Nunito Sans" pitchFamily="34" charset="-122"/>
                <a:cs typeface="Nunito Sans" pitchFamily="34" charset="-120"/>
              </a:rPr>
              <a:t>Cần Docker</a:t>
            </a:r>
            <a:endParaRPr lang="en-US" sz="1200" dirty="0"/>
          </a:p>
        </p:txBody>
      </p:sp>
      <p:sp>
        <p:nvSpPr>
          <p:cNvPr id="18" name="Shape 16"/>
          <p:cNvSpPr/>
          <p:nvPr/>
        </p:nvSpPr>
        <p:spPr>
          <a:xfrm>
            <a:off x="627698" y="3894653"/>
            <a:ext cx="7867650" cy="449223"/>
          </a:xfrm>
          <a:prstGeom prst="rect">
            <a:avLst/>
          </a:prstGeom>
          <a:solidFill>
            <a:srgbClr val="000000">
              <a:alpha val="4000"/>
            </a:srgbClr>
          </a:solidFill>
          <a:ln/>
        </p:spPr>
        <p:txBody>
          <a:bodyPr/>
          <a:lstStyle/>
          <a:p>
            <a:endParaRPr lang="en-US"/>
          </a:p>
        </p:txBody>
      </p:sp>
      <p:sp>
        <p:nvSpPr>
          <p:cNvPr id="19" name="Text 17"/>
          <p:cNvSpPr/>
          <p:nvPr/>
        </p:nvSpPr>
        <p:spPr>
          <a:xfrm>
            <a:off x="782717" y="3995261"/>
            <a:ext cx="2046446" cy="248007"/>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Nunito Sans" pitchFamily="34" charset="0"/>
                <a:ea typeface="Nunito Sans" pitchFamily="34" charset="-122"/>
                <a:cs typeface="Nunito Sans" pitchFamily="34" charset="-120"/>
              </a:rPr>
              <a:t>Metadata Filter</a:t>
            </a:r>
            <a:endParaRPr lang="en-US" sz="1200" dirty="0"/>
          </a:p>
        </p:txBody>
      </p:sp>
      <p:sp>
        <p:nvSpPr>
          <p:cNvPr id="20" name="Text 18"/>
          <p:cNvSpPr/>
          <p:nvPr/>
        </p:nvSpPr>
        <p:spPr>
          <a:xfrm>
            <a:off x="3146822" y="3995261"/>
            <a:ext cx="2436019" cy="248007"/>
          </a:xfrm>
          <a:prstGeom prst="rect">
            <a:avLst/>
          </a:prstGeom>
          <a:noFill/>
          <a:ln/>
        </p:spPr>
        <p:txBody>
          <a:bodyPr wrap="none" lIns="0" tIns="0" rIns="0" bIns="0" rtlCol="0" anchor="t"/>
          <a:lstStyle/>
          <a:p>
            <a:pPr marL="0" indent="0" algn="l">
              <a:lnSpc>
                <a:spcPts val="1950"/>
              </a:lnSpc>
              <a:buNone/>
            </a:pPr>
            <a:r>
              <a:rPr lang="en-US" sz="1200" b="1" dirty="0">
                <a:solidFill>
                  <a:srgbClr val="00AF50"/>
                </a:solidFill>
                <a:latin typeface="Nunito Sans" pitchFamily="34" charset="0"/>
                <a:ea typeface="Nunito Sans" pitchFamily="34" charset="-122"/>
                <a:cs typeface="Nunito Sans" pitchFamily="34" charset="-120"/>
              </a:rPr>
              <a:t>Rất mạnh</a:t>
            </a:r>
            <a:endParaRPr lang="en-US" sz="1200" dirty="0"/>
          </a:p>
        </p:txBody>
      </p:sp>
      <p:sp>
        <p:nvSpPr>
          <p:cNvPr id="21" name="Text 19"/>
          <p:cNvSpPr/>
          <p:nvPr/>
        </p:nvSpPr>
        <p:spPr>
          <a:xfrm>
            <a:off x="5900499" y="3995261"/>
            <a:ext cx="2439829" cy="248007"/>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Nunito Sans" pitchFamily="34" charset="0"/>
                <a:ea typeface="Nunito Sans" pitchFamily="34" charset="-122"/>
                <a:cs typeface="Nunito Sans" pitchFamily="34" charset="-120"/>
              </a:rPr>
              <a:t>Hạn chế</a:t>
            </a:r>
            <a:endParaRPr lang="en-US" sz="1200" dirty="0"/>
          </a:p>
        </p:txBody>
      </p:sp>
      <p:sp>
        <p:nvSpPr>
          <p:cNvPr id="22" name="Shape 20"/>
          <p:cNvSpPr/>
          <p:nvPr/>
        </p:nvSpPr>
        <p:spPr>
          <a:xfrm>
            <a:off x="627698" y="4343876"/>
            <a:ext cx="7867650" cy="449223"/>
          </a:xfrm>
          <a:prstGeom prst="rect">
            <a:avLst/>
          </a:prstGeom>
          <a:solidFill>
            <a:srgbClr val="FFFFFF">
              <a:alpha val="4000"/>
            </a:srgbClr>
          </a:solidFill>
          <a:ln/>
        </p:spPr>
        <p:txBody>
          <a:bodyPr/>
          <a:lstStyle/>
          <a:p>
            <a:endParaRPr lang="en-US"/>
          </a:p>
        </p:txBody>
      </p:sp>
      <p:sp>
        <p:nvSpPr>
          <p:cNvPr id="23" name="Text 21"/>
          <p:cNvSpPr/>
          <p:nvPr/>
        </p:nvSpPr>
        <p:spPr>
          <a:xfrm>
            <a:off x="782717" y="4444484"/>
            <a:ext cx="2046446" cy="248007"/>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Nunito Sans" pitchFamily="34" charset="0"/>
                <a:ea typeface="Nunito Sans" pitchFamily="34" charset="-122"/>
                <a:cs typeface="Nunito Sans" pitchFamily="34" charset="-120"/>
              </a:rPr>
              <a:t>Performance</a:t>
            </a:r>
            <a:endParaRPr lang="en-US" sz="1200" dirty="0"/>
          </a:p>
        </p:txBody>
      </p:sp>
      <p:sp>
        <p:nvSpPr>
          <p:cNvPr id="24" name="Text 22"/>
          <p:cNvSpPr/>
          <p:nvPr/>
        </p:nvSpPr>
        <p:spPr>
          <a:xfrm>
            <a:off x="3146822" y="4444484"/>
            <a:ext cx="2436019" cy="248007"/>
          </a:xfrm>
          <a:prstGeom prst="rect">
            <a:avLst/>
          </a:prstGeom>
          <a:noFill/>
          <a:ln/>
        </p:spPr>
        <p:txBody>
          <a:bodyPr wrap="none" lIns="0" tIns="0" rIns="0" bIns="0" rtlCol="0" anchor="t"/>
          <a:lstStyle/>
          <a:p>
            <a:pPr marL="0" indent="0" algn="l">
              <a:lnSpc>
                <a:spcPts val="1950"/>
              </a:lnSpc>
              <a:buNone/>
            </a:pPr>
            <a:r>
              <a:rPr lang="en-US" sz="1200" b="1" dirty="0">
                <a:solidFill>
                  <a:srgbClr val="00AF50"/>
                </a:solidFill>
                <a:latin typeface="Nunito Sans" pitchFamily="34" charset="0"/>
                <a:ea typeface="Nunito Sans" pitchFamily="34" charset="-122"/>
                <a:cs typeface="Nunito Sans" pitchFamily="34" charset="-120"/>
              </a:rPr>
              <a:t>Tối ưu</a:t>
            </a:r>
            <a:endParaRPr lang="en-US" sz="1200" dirty="0"/>
          </a:p>
        </p:txBody>
      </p:sp>
      <p:sp>
        <p:nvSpPr>
          <p:cNvPr id="25" name="Text 23"/>
          <p:cNvSpPr/>
          <p:nvPr/>
        </p:nvSpPr>
        <p:spPr>
          <a:xfrm>
            <a:off x="5900499" y="4444484"/>
            <a:ext cx="2439829" cy="248007"/>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Nunito Sans" pitchFamily="34" charset="0"/>
                <a:ea typeface="Nunito Sans" pitchFamily="34" charset="-122"/>
                <a:cs typeface="Nunito Sans" pitchFamily="34" charset="-120"/>
              </a:rPr>
              <a:t>Chậm hơn</a:t>
            </a:r>
            <a:endParaRPr lang="en-US" sz="1200" dirty="0"/>
          </a:p>
        </p:txBody>
      </p:sp>
      <p:sp>
        <p:nvSpPr>
          <p:cNvPr id="26" name="Text 24"/>
          <p:cNvSpPr/>
          <p:nvPr/>
        </p:nvSpPr>
        <p:spPr>
          <a:xfrm>
            <a:off x="8888730" y="1423392"/>
            <a:ext cx="2325291" cy="290632"/>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Nunito Sans Bold" pitchFamily="34" charset="0"/>
                <a:ea typeface="Nunito Sans Bold" pitchFamily="34" charset="-122"/>
                <a:cs typeface="Nunito Sans Bold" pitchFamily="34" charset="-120"/>
              </a:rPr>
              <a:t>Quy Trình Indexing</a:t>
            </a:r>
            <a:endParaRPr lang="en-US" sz="1800" dirty="0"/>
          </a:p>
        </p:txBody>
      </p:sp>
      <p:pic>
        <p:nvPicPr>
          <p:cNvPr id="27" name="Image 0" descr="preencoded.png"/>
          <p:cNvPicPr>
            <a:picLocks noChangeAspect="1"/>
          </p:cNvPicPr>
          <p:nvPr/>
        </p:nvPicPr>
        <p:blipFill>
          <a:blip r:embed="rId3"/>
          <a:stretch>
            <a:fillRect/>
          </a:stretch>
        </p:blipFill>
        <p:spPr>
          <a:xfrm>
            <a:off x="8888730" y="1888331"/>
            <a:ext cx="465058" cy="1143000"/>
          </a:xfrm>
          <a:prstGeom prst="rect">
            <a:avLst/>
          </a:prstGeom>
        </p:spPr>
      </p:pic>
      <p:sp>
        <p:nvSpPr>
          <p:cNvPr id="28" name="Text 25"/>
          <p:cNvSpPr/>
          <p:nvPr/>
        </p:nvSpPr>
        <p:spPr>
          <a:xfrm>
            <a:off x="9508808" y="2043351"/>
            <a:ext cx="1937742" cy="242292"/>
          </a:xfrm>
          <a:prstGeom prst="rect">
            <a:avLst/>
          </a:prstGeom>
          <a:noFill/>
          <a:ln/>
        </p:spPr>
        <p:txBody>
          <a:bodyPr wrap="none" lIns="0" tIns="0" rIns="0" bIns="0" rtlCol="0" anchor="t"/>
          <a:lstStyle/>
          <a:p>
            <a:pPr marL="0" indent="0" algn="l">
              <a:lnSpc>
                <a:spcPts val="1900"/>
              </a:lnSpc>
              <a:buNone/>
            </a:pPr>
            <a:r>
              <a:rPr lang="en-US" sz="1500" b="1" dirty="0">
                <a:solidFill>
                  <a:srgbClr val="000000"/>
                </a:solidFill>
                <a:latin typeface="Nunito Sans Bold" pitchFamily="34" charset="0"/>
                <a:ea typeface="Nunito Sans Bold" pitchFamily="34" charset="-122"/>
                <a:cs typeface="Nunito Sans Bold" pitchFamily="34" charset="-120"/>
              </a:rPr>
              <a:t>Dense Vectorization</a:t>
            </a:r>
            <a:endParaRPr lang="en-US" sz="1500" dirty="0"/>
          </a:p>
        </p:txBody>
      </p:sp>
      <p:sp>
        <p:nvSpPr>
          <p:cNvPr id="29" name="Text 26"/>
          <p:cNvSpPr/>
          <p:nvPr/>
        </p:nvSpPr>
        <p:spPr>
          <a:xfrm>
            <a:off x="9508808" y="2440662"/>
            <a:ext cx="4509135" cy="248007"/>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Nunito Sans" pitchFamily="34" charset="0"/>
                <a:ea typeface="Nunito Sans" pitchFamily="34" charset="-122"/>
                <a:cs typeface="Nunito Sans" pitchFamily="34" charset="-120"/>
              </a:rPr>
              <a:t>Text → BKAI Model → Dense Vector (768 chiều)</a:t>
            </a:r>
            <a:endParaRPr lang="en-US" sz="1200" dirty="0"/>
          </a:p>
        </p:txBody>
      </p:sp>
      <p:pic>
        <p:nvPicPr>
          <p:cNvPr id="30" name="Image 1" descr="preencoded.png"/>
          <p:cNvPicPr>
            <a:picLocks noChangeAspect="1"/>
          </p:cNvPicPr>
          <p:nvPr/>
        </p:nvPicPr>
        <p:blipFill>
          <a:blip r:embed="rId3"/>
          <a:stretch>
            <a:fillRect/>
          </a:stretch>
        </p:blipFill>
        <p:spPr>
          <a:xfrm>
            <a:off x="9121259" y="2998708"/>
            <a:ext cx="465058" cy="1143000"/>
          </a:xfrm>
          <a:prstGeom prst="rect">
            <a:avLst/>
          </a:prstGeom>
        </p:spPr>
      </p:pic>
      <p:sp>
        <p:nvSpPr>
          <p:cNvPr id="31" name="Text 27"/>
          <p:cNvSpPr/>
          <p:nvPr/>
        </p:nvSpPr>
        <p:spPr>
          <a:xfrm>
            <a:off x="9741337" y="3153728"/>
            <a:ext cx="1937742" cy="242292"/>
          </a:xfrm>
          <a:prstGeom prst="rect">
            <a:avLst/>
          </a:prstGeom>
          <a:noFill/>
          <a:ln/>
        </p:spPr>
        <p:txBody>
          <a:bodyPr wrap="none" lIns="0" tIns="0" rIns="0" bIns="0" rtlCol="0" anchor="t"/>
          <a:lstStyle/>
          <a:p>
            <a:pPr marL="0" indent="0" algn="l">
              <a:lnSpc>
                <a:spcPts val="1900"/>
              </a:lnSpc>
              <a:buNone/>
            </a:pPr>
            <a:r>
              <a:rPr lang="en-US" sz="1500" b="1" dirty="0">
                <a:solidFill>
                  <a:srgbClr val="000000"/>
                </a:solidFill>
                <a:latin typeface="Nunito Sans Bold" pitchFamily="34" charset="0"/>
                <a:ea typeface="Nunito Sans Bold" pitchFamily="34" charset="-122"/>
                <a:cs typeface="Nunito Sans Bold" pitchFamily="34" charset="-120"/>
              </a:rPr>
              <a:t>Sparse Vectorization</a:t>
            </a:r>
            <a:endParaRPr lang="en-US" sz="1500" dirty="0"/>
          </a:p>
        </p:txBody>
      </p:sp>
      <p:sp>
        <p:nvSpPr>
          <p:cNvPr id="32" name="Text 28"/>
          <p:cNvSpPr/>
          <p:nvPr/>
        </p:nvSpPr>
        <p:spPr>
          <a:xfrm>
            <a:off x="9741337" y="3551039"/>
            <a:ext cx="4276606" cy="248007"/>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Nunito Sans" pitchFamily="34" charset="0"/>
                <a:ea typeface="Nunito Sans" pitchFamily="34" charset="-122"/>
                <a:cs typeface="Nunito Sans" pitchFamily="34" charset="-120"/>
              </a:rPr>
              <a:t>Text → BM25 Tokenizer → Sparse Vector (từ khóa + trọng số)</a:t>
            </a:r>
            <a:endParaRPr lang="en-US" sz="1200" dirty="0"/>
          </a:p>
        </p:txBody>
      </p:sp>
      <p:pic>
        <p:nvPicPr>
          <p:cNvPr id="33" name="Image 2" descr="preencoded.png"/>
          <p:cNvPicPr>
            <a:picLocks noChangeAspect="1"/>
          </p:cNvPicPr>
          <p:nvPr/>
        </p:nvPicPr>
        <p:blipFill>
          <a:blip r:embed="rId4"/>
          <a:stretch>
            <a:fillRect/>
          </a:stretch>
        </p:blipFill>
        <p:spPr>
          <a:xfrm>
            <a:off x="9353788" y="4109085"/>
            <a:ext cx="465058" cy="1143000"/>
          </a:xfrm>
          <a:prstGeom prst="rect">
            <a:avLst/>
          </a:prstGeom>
        </p:spPr>
      </p:pic>
      <p:sp>
        <p:nvSpPr>
          <p:cNvPr id="34" name="Text 29"/>
          <p:cNvSpPr/>
          <p:nvPr/>
        </p:nvSpPr>
        <p:spPr>
          <a:xfrm>
            <a:off x="9973866" y="4264104"/>
            <a:ext cx="1937742" cy="242292"/>
          </a:xfrm>
          <a:prstGeom prst="rect">
            <a:avLst/>
          </a:prstGeom>
          <a:noFill/>
          <a:ln/>
        </p:spPr>
        <p:txBody>
          <a:bodyPr wrap="none" lIns="0" tIns="0" rIns="0" bIns="0" rtlCol="0" anchor="t"/>
          <a:lstStyle/>
          <a:p>
            <a:pPr marL="0" indent="0" algn="l">
              <a:lnSpc>
                <a:spcPts val="1900"/>
              </a:lnSpc>
              <a:buNone/>
            </a:pPr>
            <a:r>
              <a:rPr lang="en-US" sz="1500" b="1" dirty="0">
                <a:solidFill>
                  <a:srgbClr val="000000"/>
                </a:solidFill>
                <a:latin typeface="Nunito Sans Bold" pitchFamily="34" charset="0"/>
                <a:ea typeface="Nunito Sans Bold" pitchFamily="34" charset="-122"/>
                <a:cs typeface="Nunito Sans Bold" pitchFamily="34" charset="-120"/>
              </a:rPr>
              <a:t>Metadata Extraction</a:t>
            </a:r>
            <a:endParaRPr lang="en-US" sz="1500" dirty="0"/>
          </a:p>
        </p:txBody>
      </p:sp>
      <p:sp>
        <p:nvSpPr>
          <p:cNvPr id="35" name="Text 30"/>
          <p:cNvSpPr/>
          <p:nvPr/>
        </p:nvSpPr>
        <p:spPr>
          <a:xfrm>
            <a:off x="9973866" y="4661416"/>
            <a:ext cx="4044077" cy="496014"/>
          </a:xfrm>
          <a:prstGeom prst="rect">
            <a:avLst/>
          </a:prstGeom>
          <a:noFill/>
          <a:ln/>
        </p:spPr>
        <p:txBody>
          <a:bodyPr wrap="square" lIns="0" tIns="0" rIns="0" bIns="0" rtlCol="0" anchor="t"/>
          <a:lstStyle/>
          <a:p>
            <a:pPr marL="0" indent="0" algn="l">
              <a:lnSpc>
                <a:spcPts val="1950"/>
              </a:lnSpc>
              <a:buNone/>
            </a:pPr>
            <a:r>
              <a:rPr lang="en-US" sz="1200" dirty="0">
                <a:solidFill>
                  <a:srgbClr val="000000"/>
                </a:solidFill>
                <a:latin typeface="Nunito Sans" pitchFamily="34" charset="0"/>
                <a:ea typeface="Nunito Sans" pitchFamily="34" charset="-122"/>
                <a:cs typeface="Nunito Sans" pitchFamily="34" charset="-120"/>
              </a:rPr>
              <a:t>Trích xuất Payload: Điều số, Khoản số, tên văn bản, ngày ban hành</a:t>
            </a:r>
            <a:endParaRPr lang="en-US" sz="1200" dirty="0"/>
          </a:p>
        </p:txBody>
      </p:sp>
      <p:pic>
        <p:nvPicPr>
          <p:cNvPr id="36" name="Image 3" descr="preencoded.png"/>
          <p:cNvPicPr>
            <a:picLocks noChangeAspect="1"/>
          </p:cNvPicPr>
          <p:nvPr/>
        </p:nvPicPr>
        <p:blipFill>
          <a:blip r:embed="rId4"/>
          <a:stretch>
            <a:fillRect/>
          </a:stretch>
        </p:blipFill>
        <p:spPr>
          <a:xfrm>
            <a:off x="9586317" y="5467469"/>
            <a:ext cx="465058" cy="1143000"/>
          </a:xfrm>
          <a:prstGeom prst="rect">
            <a:avLst/>
          </a:prstGeom>
        </p:spPr>
      </p:pic>
      <p:sp>
        <p:nvSpPr>
          <p:cNvPr id="37" name="Text 31"/>
          <p:cNvSpPr/>
          <p:nvPr/>
        </p:nvSpPr>
        <p:spPr>
          <a:xfrm>
            <a:off x="10206395" y="5622488"/>
            <a:ext cx="1937742" cy="242292"/>
          </a:xfrm>
          <a:prstGeom prst="rect">
            <a:avLst/>
          </a:prstGeom>
          <a:noFill/>
          <a:ln/>
        </p:spPr>
        <p:txBody>
          <a:bodyPr wrap="none" lIns="0" tIns="0" rIns="0" bIns="0" rtlCol="0" anchor="t"/>
          <a:lstStyle/>
          <a:p>
            <a:pPr marL="0" indent="0" algn="l">
              <a:lnSpc>
                <a:spcPts val="1900"/>
              </a:lnSpc>
              <a:buNone/>
            </a:pPr>
            <a:r>
              <a:rPr lang="en-US" sz="1500" b="1" dirty="0">
                <a:solidFill>
                  <a:srgbClr val="000000"/>
                </a:solidFill>
                <a:latin typeface="Nunito Sans Bold" pitchFamily="34" charset="0"/>
                <a:ea typeface="Nunito Sans Bold" pitchFamily="34" charset="-122"/>
                <a:cs typeface="Nunito Sans Bold" pitchFamily="34" charset="-120"/>
              </a:rPr>
              <a:t>Upsert to Qdrant</a:t>
            </a:r>
            <a:endParaRPr lang="en-US" sz="1500" dirty="0"/>
          </a:p>
        </p:txBody>
      </p:sp>
      <p:sp>
        <p:nvSpPr>
          <p:cNvPr id="38" name="Text 32"/>
          <p:cNvSpPr/>
          <p:nvPr/>
        </p:nvSpPr>
        <p:spPr>
          <a:xfrm>
            <a:off x="10206395" y="6019800"/>
            <a:ext cx="3811548" cy="496014"/>
          </a:xfrm>
          <a:prstGeom prst="rect">
            <a:avLst/>
          </a:prstGeom>
          <a:noFill/>
          <a:ln/>
        </p:spPr>
        <p:txBody>
          <a:bodyPr wrap="square" lIns="0" tIns="0" rIns="0" bIns="0" rtlCol="0" anchor="t"/>
          <a:lstStyle/>
          <a:p>
            <a:pPr marL="0" indent="0" algn="l">
              <a:lnSpc>
                <a:spcPts val="1950"/>
              </a:lnSpc>
              <a:buNone/>
            </a:pPr>
            <a:r>
              <a:rPr lang="en-US" sz="1200" dirty="0">
                <a:solidFill>
                  <a:srgbClr val="000000"/>
                </a:solidFill>
                <a:latin typeface="Nunito Sans" pitchFamily="34" charset="0"/>
                <a:ea typeface="Nunito Sans" pitchFamily="34" charset="-122"/>
                <a:cs typeface="Nunito Sans" pitchFamily="34" charset="-120"/>
              </a:rPr>
              <a:t>Đẩy bộ 3 (Dense + Sparse + Metadata) vào Collection </a:t>
            </a:r>
            <a:r>
              <a:rPr lang="en-US" sz="1200" b="1" dirty="0">
                <a:solidFill>
                  <a:srgbClr val="000000"/>
                </a:solidFill>
                <a:latin typeface="Nunito Sans" pitchFamily="34" charset="0"/>
                <a:ea typeface="Nunito Sans" pitchFamily="34" charset="-122"/>
                <a:cs typeface="Nunito Sans" pitchFamily="34" charset="-120"/>
              </a:rPr>
              <a:t>vn_law</a:t>
            </a:r>
            <a:endParaRPr lang="en-US" sz="1200" dirty="0"/>
          </a:p>
        </p:txBody>
      </p:sp>
      <p:sp>
        <p:nvSpPr>
          <p:cNvPr id="39" name="Shape 33"/>
          <p:cNvSpPr/>
          <p:nvPr/>
        </p:nvSpPr>
        <p:spPr>
          <a:xfrm>
            <a:off x="620078" y="7019449"/>
            <a:ext cx="13390245" cy="658654"/>
          </a:xfrm>
          <a:prstGeom prst="roundRect">
            <a:avLst>
              <a:gd name="adj" fmla="val 9886"/>
            </a:avLst>
          </a:prstGeom>
          <a:solidFill>
            <a:srgbClr val="B7DDFB"/>
          </a:solidFill>
          <a:ln/>
        </p:spPr>
        <p:txBody>
          <a:bodyPr/>
          <a:lstStyle/>
          <a:p>
            <a:endParaRPr lang="en-US"/>
          </a:p>
        </p:txBody>
      </p:sp>
      <p:pic>
        <p:nvPicPr>
          <p:cNvPr id="40" name="Image 4" descr="preencoded.png"/>
          <p:cNvPicPr>
            <a:picLocks noChangeAspect="1"/>
          </p:cNvPicPr>
          <p:nvPr/>
        </p:nvPicPr>
        <p:blipFill>
          <a:blip r:embed="rId5"/>
          <a:stretch>
            <a:fillRect/>
          </a:stretch>
        </p:blipFill>
        <p:spPr>
          <a:xfrm>
            <a:off x="775097" y="7252692"/>
            <a:ext cx="193715" cy="155019"/>
          </a:xfrm>
          <a:prstGeom prst="rect">
            <a:avLst/>
          </a:prstGeom>
        </p:spPr>
      </p:pic>
      <p:sp>
        <p:nvSpPr>
          <p:cNvPr id="41" name="Text 34"/>
          <p:cNvSpPr/>
          <p:nvPr/>
        </p:nvSpPr>
        <p:spPr>
          <a:xfrm>
            <a:off x="1123831" y="7213163"/>
            <a:ext cx="12731472" cy="248007"/>
          </a:xfrm>
          <a:prstGeom prst="rect">
            <a:avLst/>
          </a:prstGeom>
          <a:noFill/>
          <a:ln/>
        </p:spPr>
        <p:txBody>
          <a:bodyPr wrap="none" lIns="0" tIns="0" rIns="0" bIns="0" rtlCol="0" anchor="t"/>
          <a:lstStyle/>
          <a:p>
            <a:pPr marL="0" indent="0" algn="l">
              <a:lnSpc>
                <a:spcPts val="1950"/>
              </a:lnSpc>
              <a:buNone/>
            </a:pPr>
            <a:r>
              <a:rPr lang="en-US" sz="1200" b="1" dirty="0">
                <a:solidFill>
                  <a:srgbClr val="000000"/>
                </a:solidFill>
                <a:latin typeface="Nunito Sans" pitchFamily="34" charset="0"/>
                <a:ea typeface="Nunito Sans" pitchFamily="34" charset="-122"/>
                <a:cs typeface="Nunito Sans" pitchFamily="34" charset="-120"/>
              </a:rPr>
              <a:t>Kết quả:</a:t>
            </a:r>
            <a:r>
              <a:rPr lang="en-US" sz="1200" dirty="0">
                <a:solidFill>
                  <a:srgbClr val="000000"/>
                </a:solidFill>
                <a:latin typeface="Nunito Sans" pitchFamily="34" charset="0"/>
                <a:ea typeface="Nunito Sans" pitchFamily="34" charset="-122"/>
                <a:cs typeface="Nunito Sans" pitchFamily="34" charset="-120"/>
              </a:rPr>
              <a:t> Một Vector Database hoàn chỉnh với khả năng tìm kiếm song song trên cả ngữ nghĩa và từ khóa, kèm bộ </a:t>
            </a:r>
            <a:r>
              <a:rPr lang="en-US" sz="1200" dirty="0" err="1">
                <a:solidFill>
                  <a:srgbClr val="000000"/>
                </a:solidFill>
                <a:latin typeface="Nunito Sans" pitchFamily="34" charset="0"/>
                <a:ea typeface="Nunito Sans" pitchFamily="34" charset="-122"/>
                <a:cs typeface="Nunito Sans" pitchFamily="34" charset="-120"/>
              </a:rPr>
              <a:t>lọc</a:t>
            </a:r>
            <a:r>
              <a:rPr lang="en-US" sz="1200" dirty="0">
                <a:solidFill>
                  <a:srgbClr val="000000"/>
                </a:solidFill>
                <a:latin typeface="Nunito Sans" pitchFamily="34" charset="0"/>
                <a:ea typeface="Nunito Sans" pitchFamily="34" charset="-122"/>
                <a:cs typeface="Nunito Sans" pitchFamily="34" charset="-120"/>
              </a:rPr>
              <a:t> Metadata.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069777"/>
            <a:ext cx="7964448"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Nunito Sans Bold" pitchFamily="34" charset="0"/>
                <a:ea typeface="Nunito Sans Bold" pitchFamily="34" charset="-122"/>
                <a:cs typeface="Nunito Sans Bold" pitchFamily="34" charset="-120"/>
              </a:rPr>
              <a:t>Query Processing - Xử Lý Truy Vấn</a:t>
            </a:r>
            <a:endParaRPr lang="en-US" sz="3900" dirty="0"/>
          </a:p>
        </p:txBody>
      </p:sp>
      <p:sp>
        <p:nvSpPr>
          <p:cNvPr id="3" name="Text 1"/>
          <p:cNvSpPr/>
          <p:nvPr/>
        </p:nvSpPr>
        <p:spPr>
          <a:xfrm>
            <a:off x="793790" y="1769150"/>
            <a:ext cx="4170640"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Nunito Sans Bold" pitchFamily="34" charset="0"/>
                <a:ea typeface="Nunito Sans Bold" pitchFamily="34" charset="-122"/>
                <a:cs typeface="Nunito Sans Bold" pitchFamily="34" charset="-120"/>
              </a:rPr>
              <a:t>Khi Người Dùng Nhập Câu Hỏi</a:t>
            </a:r>
            <a:endParaRPr lang="en-US" sz="2300" dirty="0"/>
          </a:p>
        </p:txBody>
      </p:sp>
      <p:sp>
        <p:nvSpPr>
          <p:cNvPr id="4" name="Text 2"/>
          <p:cNvSpPr/>
          <p:nvPr/>
        </p:nvSpPr>
        <p:spPr>
          <a:xfrm>
            <a:off x="793790" y="2438876"/>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Nunito Sans" pitchFamily="34" charset="0"/>
                <a:ea typeface="Nunito Sans" pitchFamily="34" charset="-122"/>
                <a:cs typeface="Nunito Sans" pitchFamily="34" charset="-120"/>
              </a:rPr>
              <a:t>Ví dụ: </a:t>
            </a:r>
            <a:r>
              <a:rPr lang="en-US" sz="1550" i="1" dirty="0">
                <a:solidFill>
                  <a:srgbClr val="000000"/>
                </a:solidFill>
                <a:latin typeface="Nunito Sans" pitchFamily="34" charset="0"/>
                <a:ea typeface="Nunito Sans" pitchFamily="34" charset="-122"/>
                <a:cs typeface="Nunito Sans" pitchFamily="34" charset="-120"/>
              </a:rPr>
              <a:t>"Đối tượng nào phải đóng bảo hiểm y tế bắt buộc?"</a:t>
            </a:r>
            <a:endParaRPr lang="en-US" sz="1550" dirty="0"/>
          </a:p>
        </p:txBody>
      </p:sp>
      <p:sp>
        <p:nvSpPr>
          <p:cNvPr id="5" name="Shape 3"/>
          <p:cNvSpPr/>
          <p:nvPr/>
        </p:nvSpPr>
        <p:spPr>
          <a:xfrm>
            <a:off x="793790" y="2979658"/>
            <a:ext cx="4215289" cy="3639383"/>
          </a:xfrm>
          <a:prstGeom prst="roundRect">
            <a:avLst>
              <a:gd name="adj" fmla="val 2290"/>
            </a:avLst>
          </a:prstGeom>
          <a:solidFill>
            <a:srgbClr val="0A5FA3"/>
          </a:solidFill>
          <a:ln w="7620">
            <a:solidFill>
              <a:srgbClr val="2378BC"/>
            </a:solidFill>
            <a:prstDash val="solid"/>
          </a:ln>
        </p:spPr>
        <p:txBody>
          <a:bodyPr/>
          <a:lstStyle/>
          <a:p>
            <a:endParaRPr lang="en-US"/>
          </a:p>
        </p:txBody>
      </p:sp>
      <p:sp>
        <p:nvSpPr>
          <p:cNvPr id="6" name="Text 4"/>
          <p:cNvSpPr/>
          <p:nvPr/>
        </p:nvSpPr>
        <p:spPr>
          <a:xfrm>
            <a:off x="999768" y="3185636"/>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FFFFFF"/>
                </a:solidFill>
                <a:latin typeface="Nunito Sans Bold" pitchFamily="34" charset="0"/>
                <a:ea typeface="Nunito Sans Bold" pitchFamily="34" charset="-122"/>
                <a:cs typeface="Nunito Sans Bold" pitchFamily="34" charset="-120"/>
              </a:rPr>
              <a:t>Bước 1: Tiền Xử Lý</a:t>
            </a:r>
            <a:endParaRPr lang="en-US" sz="1950" dirty="0"/>
          </a:p>
        </p:txBody>
      </p:sp>
      <p:sp>
        <p:nvSpPr>
          <p:cNvPr id="7" name="Text 5"/>
          <p:cNvSpPr/>
          <p:nvPr/>
        </p:nvSpPr>
        <p:spPr>
          <a:xfrm>
            <a:off x="999768" y="3614857"/>
            <a:ext cx="3803333"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FFFFFF"/>
                </a:solidFill>
                <a:latin typeface="Nunito Sans" pitchFamily="34" charset="0"/>
                <a:ea typeface="Nunito Sans" pitchFamily="34" charset="-122"/>
                <a:cs typeface="Nunito Sans" pitchFamily="34" charset="-120"/>
              </a:rPr>
              <a:t>Tokenization:</a:t>
            </a:r>
            <a:r>
              <a:rPr lang="en-US" sz="1550" dirty="0">
                <a:solidFill>
                  <a:srgbClr val="FFFFFF"/>
                </a:solidFill>
                <a:latin typeface="Nunito Sans" pitchFamily="34" charset="0"/>
                <a:ea typeface="Nunito Sans" pitchFamily="34" charset="-122"/>
                <a:cs typeface="Nunito Sans" pitchFamily="34" charset="-120"/>
              </a:rPr>
              <a:t> Tách từ tiếng Việt ("đóng bảo_hiểm")</a:t>
            </a:r>
            <a:endParaRPr lang="en-US" sz="1550" dirty="0"/>
          </a:p>
        </p:txBody>
      </p:sp>
      <p:sp>
        <p:nvSpPr>
          <p:cNvPr id="8" name="Text 6"/>
          <p:cNvSpPr/>
          <p:nvPr/>
        </p:nvSpPr>
        <p:spPr>
          <a:xfrm>
            <a:off x="999768" y="4319349"/>
            <a:ext cx="3803333"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FFFFFF"/>
                </a:solidFill>
                <a:latin typeface="Nunito Sans" pitchFamily="34" charset="0"/>
                <a:ea typeface="Nunito Sans" pitchFamily="34" charset="-122"/>
                <a:cs typeface="Nunito Sans" pitchFamily="34" charset="-120"/>
              </a:rPr>
              <a:t>Normalization:</a:t>
            </a:r>
            <a:r>
              <a:rPr lang="en-US" sz="1550" dirty="0">
                <a:solidFill>
                  <a:srgbClr val="FFFFFF"/>
                </a:solidFill>
                <a:latin typeface="Nunito Sans" pitchFamily="34" charset="0"/>
                <a:ea typeface="Nunito Sans" pitchFamily="34" charset="-122"/>
                <a:cs typeface="Nunito Sans" pitchFamily="34" charset="-120"/>
              </a:rPr>
              <a:t> Chuẩn hóa dấu, viết thường</a:t>
            </a:r>
            <a:endParaRPr lang="en-US" sz="1550" dirty="0"/>
          </a:p>
        </p:txBody>
      </p:sp>
      <p:sp>
        <p:nvSpPr>
          <p:cNvPr id="9" name="Text 7"/>
          <p:cNvSpPr/>
          <p:nvPr/>
        </p:nvSpPr>
        <p:spPr>
          <a:xfrm>
            <a:off x="999768" y="5023842"/>
            <a:ext cx="3803333"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FFFFFF"/>
                </a:solidFill>
                <a:latin typeface="Nunito Sans" pitchFamily="34" charset="0"/>
                <a:ea typeface="Nunito Sans" pitchFamily="34" charset="-122"/>
                <a:cs typeface="Nunito Sans" pitchFamily="34" charset="-120"/>
              </a:rPr>
              <a:t>Metadata Extraction:</a:t>
            </a:r>
            <a:r>
              <a:rPr lang="en-US" sz="1550" dirty="0">
                <a:solidFill>
                  <a:srgbClr val="FFFFFF"/>
                </a:solidFill>
                <a:latin typeface="Nunito Sans" pitchFamily="34" charset="0"/>
                <a:ea typeface="Nunito Sans" pitchFamily="34" charset="-122"/>
                <a:cs typeface="Nunito Sans" pitchFamily="34" charset="-120"/>
              </a:rPr>
              <a:t> Phát hiện số Điều nếu có trong query</a:t>
            </a:r>
            <a:endParaRPr lang="en-US" sz="1550" dirty="0"/>
          </a:p>
        </p:txBody>
      </p:sp>
      <p:sp>
        <p:nvSpPr>
          <p:cNvPr id="10" name="Text 8"/>
          <p:cNvSpPr/>
          <p:nvPr/>
        </p:nvSpPr>
        <p:spPr>
          <a:xfrm>
            <a:off x="999768" y="5777984"/>
            <a:ext cx="3803333" cy="635079"/>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Nunito Sans" pitchFamily="34" charset="0"/>
                <a:ea typeface="Nunito Sans" pitchFamily="34" charset="-122"/>
                <a:cs typeface="Nunito Sans" pitchFamily="34" charset="-120"/>
              </a:rPr>
              <a:t>Output: Query đã chuẩn hóa + Metadata filter (nếu có)</a:t>
            </a:r>
            <a:endParaRPr lang="en-US" sz="1550" dirty="0"/>
          </a:p>
        </p:txBody>
      </p:sp>
      <p:sp>
        <p:nvSpPr>
          <p:cNvPr id="11" name="Shape 9"/>
          <p:cNvSpPr/>
          <p:nvPr/>
        </p:nvSpPr>
        <p:spPr>
          <a:xfrm>
            <a:off x="5207437" y="2979658"/>
            <a:ext cx="4215408" cy="3639383"/>
          </a:xfrm>
          <a:prstGeom prst="roundRect">
            <a:avLst>
              <a:gd name="adj" fmla="val 2290"/>
            </a:avLst>
          </a:prstGeom>
          <a:solidFill>
            <a:srgbClr val="70B603"/>
          </a:solidFill>
          <a:ln w="7620">
            <a:solidFill>
              <a:srgbClr val="569C00"/>
            </a:solidFill>
            <a:prstDash val="solid"/>
          </a:ln>
        </p:spPr>
        <p:txBody>
          <a:bodyPr/>
          <a:lstStyle/>
          <a:p>
            <a:endParaRPr lang="en-US"/>
          </a:p>
        </p:txBody>
      </p:sp>
      <p:sp>
        <p:nvSpPr>
          <p:cNvPr id="12" name="Text 10"/>
          <p:cNvSpPr/>
          <p:nvPr/>
        </p:nvSpPr>
        <p:spPr>
          <a:xfrm>
            <a:off x="5413415" y="3185636"/>
            <a:ext cx="2766774"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Nunito Sans Bold" pitchFamily="34" charset="0"/>
                <a:ea typeface="Nunito Sans Bold" pitchFamily="34" charset="-122"/>
                <a:cs typeface="Nunito Sans Bold" pitchFamily="34" charset="-120"/>
              </a:rPr>
              <a:t>Bước 2: Dense Encoding</a:t>
            </a:r>
            <a:endParaRPr lang="en-US" sz="1950" dirty="0"/>
          </a:p>
        </p:txBody>
      </p:sp>
      <p:sp>
        <p:nvSpPr>
          <p:cNvPr id="13" name="Text 11"/>
          <p:cNvSpPr/>
          <p:nvPr/>
        </p:nvSpPr>
        <p:spPr>
          <a:xfrm>
            <a:off x="5413415" y="3614857"/>
            <a:ext cx="3803452"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000000"/>
                </a:solidFill>
                <a:latin typeface="Nunito Sans" pitchFamily="34" charset="0"/>
                <a:ea typeface="Nunito Sans" pitchFamily="34" charset="-122"/>
                <a:cs typeface="Nunito Sans" pitchFamily="34" charset="-120"/>
              </a:rPr>
              <a:t>Chạy query qua </a:t>
            </a:r>
            <a:r>
              <a:rPr lang="en-US" sz="1550" b="1" dirty="0">
                <a:solidFill>
                  <a:srgbClr val="000000"/>
                </a:solidFill>
                <a:latin typeface="Nunito Sans" pitchFamily="34" charset="0"/>
                <a:ea typeface="Nunito Sans" pitchFamily="34" charset="-122"/>
                <a:cs typeface="Nunito Sans" pitchFamily="34" charset="-120"/>
              </a:rPr>
              <a:t>BKAI Model</a:t>
            </a:r>
            <a:endParaRPr lang="en-US" sz="1550" dirty="0"/>
          </a:p>
        </p:txBody>
      </p:sp>
      <p:sp>
        <p:nvSpPr>
          <p:cNvPr id="14" name="Text 12"/>
          <p:cNvSpPr/>
          <p:nvPr/>
        </p:nvSpPr>
        <p:spPr>
          <a:xfrm>
            <a:off x="5413415" y="4001810"/>
            <a:ext cx="3803452"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000000"/>
                </a:solidFill>
                <a:latin typeface="Nunito Sans" pitchFamily="34" charset="0"/>
                <a:ea typeface="Nunito Sans" pitchFamily="34" charset="-122"/>
                <a:cs typeface="Nunito Sans" pitchFamily="34" charset="-120"/>
              </a:rPr>
              <a:t>Tạo ra </a:t>
            </a:r>
            <a:r>
              <a:rPr lang="en-US" sz="1550" b="1" dirty="0">
                <a:solidFill>
                  <a:srgbClr val="000000"/>
                </a:solidFill>
                <a:latin typeface="Nunito Sans" pitchFamily="34" charset="0"/>
                <a:ea typeface="Nunito Sans" pitchFamily="34" charset="-122"/>
                <a:cs typeface="Nunito Sans" pitchFamily="34" charset="-120"/>
              </a:rPr>
              <a:t>Query Dense Vector</a:t>
            </a:r>
            <a:r>
              <a:rPr lang="en-US" sz="1550" dirty="0">
                <a:solidFill>
                  <a:srgbClr val="000000"/>
                </a:solidFill>
                <a:latin typeface="Nunito Sans" pitchFamily="34" charset="0"/>
                <a:ea typeface="Nunito Sans" pitchFamily="34" charset="-122"/>
                <a:cs typeface="Nunito Sans" pitchFamily="34" charset="-120"/>
              </a:rPr>
              <a:t> (768 chiều)</a:t>
            </a:r>
            <a:endParaRPr lang="en-US" sz="1550" dirty="0"/>
          </a:p>
        </p:txBody>
      </p:sp>
      <p:sp>
        <p:nvSpPr>
          <p:cNvPr id="15" name="Text 13"/>
          <p:cNvSpPr/>
          <p:nvPr/>
        </p:nvSpPr>
        <p:spPr>
          <a:xfrm>
            <a:off x="5413415" y="4706303"/>
            <a:ext cx="3803452"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000000"/>
                </a:solidFill>
                <a:latin typeface="Nunito Sans" pitchFamily="34" charset="0"/>
                <a:ea typeface="Nunito Sans" pitchFamily="34" charset="-122"/>
                <a:cs typeface="Nunito Sans" pitchFamily="34" charset="-120"/>
              </a:rPr>
              <a:t>Vector này mang ý nghĩa ngữ nghĩa của câu hỏi</a:t>
            </a:r>
            <a:endParaRPr lang="en-US" sz="1550" dirty="0"/>
          </a:p>
        </p:txBody>
      </p:sp>
      <p:sp>
        <p:nvSpPr>
          <p:cNvPr id="16" name="Text 14"/>
          <p:cNvSpPr/>
          <p:nvPr/>
        </p:nvSpPr>
        <p:spPr>
          <a:xfrm>
            <a:off x="5413415" y="5460444"/>
            <a:ext cx="3803452"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Nunito Sans" pitchFamily="34" charset="0"/>
                <a:ea typeface="Nunito Sans" pitchFamily="34" charset="-122"/>
                <a:cs typeface="Nunito Sans" pitchFamily="34" charset="-120"/>
              </a:rPr>
              <a:t>Output: Dense Query Vector A để tìm kiếm tương đồng ngữ nghĩa</a:t>
            </a:r>
            <a:endParaRPr lang="en-US" sz="1550" dirty="0"/>
          </a:p>
        </p:txBody>
      </p:sp>
      <p:sp>
        <p:nvSpPr>
          <p:cNvPr id="17" name="Shape 15"/>
          <p:cNvSpPr/>
          <p:nvPr/>
        </p:nvSpPr>
        <p:spPr>
          <a:xfrm>
            <a:off x="9621203" y="2979658"/>
            <a:ext cx="4215289" cy="3639383"/>
          </a:xfrm>
          <a:prstGeom prst="roundRect">
            <a:avLst>
              <a:gd name="adj" fmla="val 2290"/>
            </a:avLst>
          </a:prstGeom>
          <a:solidFill>
            <a:srgbClr val="00AF50"/>
          </a:solidFill>
          <a:ln w="7620">
            <a:solidFill>
              <a:srgbClr val="19C869"/>
            </a:solidFill>
            <a:prstDash val="solid"/>
          </a:ln>
        </p:spPr>
        <p:txBody>
          <a:bodyPr/>
          <a:lstStyle/>
          <a:p>
            <a:endParaRPr lang="en-US"/>
          </a:p>
        </p:txBody>
      </p:sp>
      <p:sp>
        <p:nvSpPr>
          <p:cNvPr id="18" name="Text 16"/>
          <p:cNvSpPr/>
          <p:nvPr/>
        </p:nvSpPr>
        <p:spPr>
          <a:xfrm>
            <a:off x="9827181" y="3185636"/>
            <a:ext cx="2835235" cy="310158"/>
          </a:xfrm>
          <a:prstGeom prst="rect">
            <a:avLst/>
          </a:prstGeom>
          <a:noFill/>
          <a:ln/>
        </p:spPr>
        <p:txBody>
          <a:bodyPr wrap="none" lIns="0" tIns="0" rIns="0" bIns="0" rtlCol="0" anchor="t"/>
          <a:lstStyle/>
          <a:p>
            <a:pPr marL="0" indent="0" algn="l">
              <a:lnSpc>
                <a:spcPts val="2400"/>
              </a:lnSpc>
              <a:buNone/>
            </a:pPr>
            <a:r>
              <a:rPr lang="en-US" sz="1950" b="1" dirty="0">
                <a:solidFill>
                  <a:srgbClr val="FFFFFF"/>
                </a:solidFill>
                <a:latin typeface="Nunito Sans Bold" pitchFamily="34" charset="0"/>
                <a:ea typeface="Nunito Sans Bold" pitchFamily="34" charset="-122"/>
                <a:cs typeface="Nunito Sans Bold" pitchFamily="34" charset="-120"/>
              </a:rPr>
              <a:t>Bước 3: Sparse Encoding</a:t>
            </a:r>
            <a:endParaRPr lang="en-US" sz="1950" dirty="0"/>
          </a:p>
        </p:txBody>
      </p:sp>
      <p:sp>
        <p:nvSpPr>
          <p:cNvPr id="19" name="Text 17"/>
          <p:cNvSpPr/>
          <p:nvPr/>
        </p:nvSpPr>
        <p:spPr>
          <a:xfrm>
            <a:off x="9827181" y="3614857"/>
            <a:ext cx="3803333"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FFFFFF"/>
                </a:solidFill>
                <a:latin typeface="Nunito Sans" pitchFamily="34" charset="0"/>
                <a:ea typeface="Nunito Sans" pitchFamily="34" charset="-122"/>
                <a:cs typeface="Nunito Sans" pitchFamily="34" charset="-120"/>
              </a:rPr>
              <a:t>Chạy query qua </a:t>
            </a:r>
            <a:r>
              <a:rPr lang="en-US" sz="1550" b="1" dirty="0">
                <a:solidFill>
                  <a:srgbClr val="FFFFFF"/>
                </a:solidFill>
                <a:latin typeface="Nunito Sans" pitchFamily="34" charset="0"/>
                <a:ea typeface="Nunito Sans" pitchFamily="34" charset="-122"/>
                <a:cs typeface="Nunito Sans" pitchFamily="34" charset="-120"/>
              </a:rPr>
              <a:t>BM25 Tokenizer</a:t>
            </a:r>
            <a:endParaRPr lang="en-US" sz="1550" dirty="0"/>
          </a:p>
        </p:txBody>
      </p:sp>
      <p:sp>
        <p:nvSpPr>
          <p:cNvPr id="20" name="Text 18"/>
          <p:cNvSpPr/>
          <p:nvPr/>
        </p:nvSpPr>
        <p:spPr>
          <a:xfrm>
            <a:off x="9827181" y="4001810"/>
            <a:ext cx="3803333"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FFFFFF"/>
                </a:solidFill>
                <a:latin typeface="Nunito Sans" pitchFamily="34" charset="0"/>
                <a:ea typeface="Nunito Sans" pitchFamily="34" charset="-122"/>
                <a:cs typeface="Nunito Sans" pitchFamily="34" charset="-120"/>
              </a:rPr>
              <a:t>Tạo ra </a:t>
            </a:r>
            <a:r>
              <a:rPr lang="en-US" sz="1550" b="1" dirty="0">
                <a:solidFill>
                  <a:srgbClr val="FFFFFF"/>
                </a:solidFill>
                <a:latin typeface="Nunito Sans" pitchFamily="34" charset="0"/>
                <a:ea typeface="Nunito Sans" pitchFamily="34" charset="-122"/>
                <a:cs typeface="Nunito Sans" pitchFamily="34" charset="-120"/>
              </a:rPr>
              <a:t>Query Sparse Vector</a:t>
            </a:r>
            <a:endParaRPr lang="en-US" sz="1550" dirty="0"/>
          </a:p>
        </p:txBody>
      </p:sp>
      <p:sp>
        <p:nvSpPr>
          <p:cNvPr id="21" name="Text 19"/>
          <p:cNvSpPr/>
          <p:nvPr/>
        </p:nvSpPr>
        <p:spPr>
          <a:xfrm>
            <a:off x="9827181" y="4388763"/>
            <a:ext cx="3803333"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FFFFFF"/>
                </a:solidFill>
                <a:latin typeface="Nunito Sans" pitchFamily="34" charset="0"/>
                <a:ea typeface="Nunito Sans" pitchFamily="34" charset="-122"/>
                <a:cs typeface="Nunito Sans" pitchFamily="34" charset="-120"/>
              </a:rPr>
              <a:t>Chứa các từ khóa quan trọng kèm trọng số</a:t>
            </a:r>
            <a:endParaRPr lang="en-US" sz="1550" dirty="0"/>
          </a:p>
        </p:txBody>
      </p:sp>
      <p:sp>
        <p:nvSpPr>
          <p:cNvPr id="22" name="Text 20"/>
          <p:cNvSpPr/>
          <p:nvPr/>
        </p:nvSpPr>
        <p:spPr>
          <a:xfrm>
            <a:off x="9827181" y="5142905"/>
            <a:ext cx="3803333" cy="635079"/>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Nunito Sans" pitchFamily="34" charset="0"/>
                <a:ea typeface="Nunito Sans" pitchFamily="34" charset="-122"/>
                <a:cs typeface="Nunito Sans" pitchFamily="34" charset="-120"/>
              </a:rPr>
              <a:t>Output: Sparse Query Vector B để khớp từ khóa chính xác</a:t>
            </a:r>
            <a:endParaRPr lang="en-US" sz="1550" dirty="0"/>
          </a:p>
        </p:txBody>
      </p:sp>
      <p:sp>
        <p:nvSpPr>
          <p:cNvPr id="23" name="Text 21"/>
          <p:cNvSpPr/>
          <p:nvPr/>
        </p:nvSpPr>
        <p:spPr>
          <a:xfrm>
            <a:off x="793790" y="6842284"/>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Nunito Sans" pitchFamily="34" charset="0"/>
                <a:ea typeface="Nunito Sans" pitchFamily="34" charset="-122"/>
                <a:cs typeface="Nunito Sans" pitchFamily="34" charset="-120"/>
              </a:rPr>
              <a:t>Cả 2 vector này sẽ được dùng </a:t>
            </a:r>
            <a:r>
              <a:rPr lang="en-US" sz="1550" b="1" dirty="0">
                <a:solidFill>
                  <a:srgbClr val="000000"/>
                </a:solidFill>
                <a:latin typeface="Nunito Sans" pitchFamily="34" charset="0"/>
                <a:ea typeface="Nunito Sans" pitchFamily="34" charset="-122"/>
                <a:cs typeface="Nunito Sans" pitchFamily="34" charset="-120"/>
              </a:rPr>
              <a:t>song song</a:t>
            </a:r>
            <a:r>
              <a:rPr lang="en-US" sz="1550" dirty="0">
                <a:solidFill>
                  <a:srgbClr val="000000"/>
                </a:solidFill>
                <a:latin typeface="Nunito Sans" pitchFamily="34" charset="0"/>
                <a:ea typeface="Nunito Sans" pitchFamily="34" charset="-122"/>
                <a:cs typeface="Nunito Sans" pitchFamily="34" charset="-120"/>
              </a:rPr>
              <a:t> trong bước Retrieval để tận dụng ưu điểm của cả ngữ nghĩa và từ khóa.</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23862" y="291346"/>
            <a:ext cx="4667369" cy="331113"/>
          </a:xfrm>
          <a:prstGeom prst="rect">
            <a:avLst/>
          </a:prstGeom>
          <a:noFill/>
          <a:ln/>
        </p:spPr>
        <p:txBody>
          <a:bodyPr wrap="none" lIns="0" tIns="0" rIns="0" bIns="0" rtlCol="0" anchor="t"/>
          <a:lstStyle/>
          <a:p>
            <a:pPr marL="0" indent="0" algn="l">
              <a:lnSpc>
                <a:spcPts val="2600"/>
              </a:lnSpc>
              <a:buNone/>
            </a:pPr>
            <a:r>
              <a:rPr lang="en-US" sz="2050" b="1" dirty="0">
                <a:solidFill>
                  <a:srgbClr val="000000"/>
                </a:solidFill>
                <a:latin typeface="Nunito Sans Bold" pitchFamily="34" charset="0"/>
                <a:ea typeface="Nunito Sans Bold" pitchFamily="34" charset="-122"/>
                <a:cs typeface="Nunito Sans Bold" pitchFamily="34" charset="-120"/>
              </a:rPr>
              <a:t>Ranking &amp; Fusion - Tổng Hợp Kết Quả</a:t>
            </a:r>
            <a:endParaRPr lang="en-US" sz="2050" dirty="0"/>
          </a:p>
        </p:txBody>
      </p:sp>
      <p:sp>
        <p:nvSpPr>
          <p:cNvPr id="3" name="Text 1"/>
          <p:cNvSpPr/>
          <p:nvPr/>
        </p:nvSpPr>
        <p:spPr>
          <a:xfrm>
            <a:off x="423862" y="887373"/>
            <a:ext cx="2813804" cy="198596"/>
          </a:xfrm>
          <a:prstGeom prst="rect">
            <a:avLst/>
          </a:prstGeom>
          <a:noFill/>
          <a:ln/>
        </p:spPr>
        <p:txBody>
          <a:bodyPr wrap="none" lIns="0" tIns="0" rIns="0" bIns="0" rtlCol="0" anchor="t"/>
          <a:lstStyle/>
          <a:p>
            <a:pPr marL="0" indent="0" algn="l">
              <a:lnSpc>
                <a:spcPts val="1550"/>
              </a:lnSpc>
              <a:buNone/>
            </a:pPr>
            <a:r>
              <a:rPr lang="en-US" sz="1250" b="1" dirty="0">
                <a:solidFill>
                  <a:srgbClr val="000000"/>
                </a:solidFill>
                <a:latin typeface="Nunito Sans Bold" pitchFamily="34" charset="0"/>
                <a:ea typeface="Nunito Sans Bold" pitchFamily="34" charset="-122"/>
                <a:cs typeface="Nunito Sans Bold" pitchFamily="34" charset="-120"/>
              </a:rPr>
              <a:t>Parallel Search - Tìm Kiếm Song Song</a:t>
            </a:r>
            <a:endParaRPr lang="en-US" sz="1250" dirty="0"/>
          </a:p>
        </p:txBody>
      </p:sp>
      <p:sp>
        <p:nvSpPr>
          <p:cNvPr id="4" name="Shape 2"/>
          <p:cNvSpPr/>
          <p:nvPr/>
        </p:nvSpPr>
        <p:spPr>
          <a:xfrm>
            <a:off x="423862" y="1205151"/>
            <a:ext cx="6060043" cy="948452"/>
          </a:xfrm>
          <a:prstGeom prst="roundRect">
            <a:avLst>
              <a:gd name="adj" fmla="val 7713"/>
            </a:avLst>
          </a:prstGeom>
          <a:solidFill>
            <a:srgbClr val="FFFFFF"/>
          </a:solidFill>
          <a:ln w="15240">
            <a:solidFill>
              <a:srgbClr val="0A5FA3"/>
            </a:solidFill>
            <a:prstDash val="solid"/>
          </a:ln>
        </p:spPr>
        <p:txBody>
          <a:bodyPr/>
          <a:lstStyle/>
          <a:p>
            <a:endParaRPr lang="en-US"/>
          </a:p>
        </p:txBody>
      </p:sp>
      <p:sp>
        <p:nvSpPr>
          <p:cNvPr id="5" name="Shape 3"/>
          <p:cNvSpPr/>
          <p:nvPr/>
        </p:nvSpPr>
        <p:spPr>
          <a:xfrm>
            <a:off x="408623" y="1205151"/>
            <a:ext cx="60960" cy="948452"/>
          </a:xfrm>
          <a:prstGeom prst="roundRect">
            <a:avLst>
              <a:gd name="adj" fmla="val 73018"/>
            </a:avLst>
          </a:prstGeom>
          <a:solidFill>
            <a:srgbClr val="0A5FA3"/>
          </a:solidFill>
          <a:ln/>
        </p:spPr>
        <p:txBody>
          <a:bodyPr/>
          <a:lstStyle/>
          <a:p>
            <a:endParaRPr lang="en-US"/>
          </a:p>
        </p:txBody>
      </p:sp>
      <p:sp>
        <p:nvSpPr>
          <p:cNvPr id="6" name="Text 4"/>
          <p:cNvSpPr/>
          <p:nvPr/>
        </p:nvSpPr>
        <p:spPr>
          <a:xfrm>
            <a:off x="590788" y="1326356"/>
            <a:ext cx="1428393" cy="165616"/>
          </a:xfrm>
          <a:prstGeom prst="rect">
            <a:avLst/>
          </a:prstGeom>
          <a:noFill/>
          <a:ln/>
        </p:spPr>
        <p:txBody>
          <a:bodyPr wrap="none" lIns="0" tIns="0" rIns="0" bIns="0" rtlCol="0" anchor="t"/>
          <a:lstStyle/>
          <a:p>
            <a:pPr marL="0" indent="0" algn="l">
              <a:lnSpc>
                <a:spcPts val="1300"/>
              </a:lnSpc>
              <a:buNone/>
            </a:pPr>
            <a:r>
              <a:rPr lang="en-US" sz="1000" b="1" dirty="0">
                <a:solidFill>
                  <a:srgbClr val="000000"/>
                </a:solidFill>
                <a:latin typeface="Nunito Sans Bold" pitchFamily="34" charset="0"/>
                <a:ea typeface="Nunito Sans Bold" pitchFamily="34" charset="-122"/>
                <a:cs typeface="Nunito Sans Bold" pitchFamily="34" charset="-120"/>
              </a:rPr>
              <a:t>Nhánh 1: Dense Search</a:t>
            </a:r>
            <a:endParaRPr lang="en-US" sz="1000" dirty="0"/>
          </a:p>
        </p:txBody>
      </p:sp>
      <p:sp>
        <p:nvSpPr>
          <p:cNvPr id="7" name="Text 5"/>
          <p:cNvSpPr/>
          <p:nvPr/>
        </p:nvSpPr>
        <p:spPr>
          <a:xfrm>
            <a:off x="590788" y="1597938"/>
            <a:ext cx="5771912" cy="169545"/>
          </a:xfrm>
          <a:prstGeom prst="rect">
            <a:avLst/>
          </a:prstGeom>
          <a:noFill/>
          <a:ln/>
        </p:spPr>
        <p:txBody>
          <a:bodyPr wrap="none" lIns="0" tIns="0" rIns="0" bIns="0" rtlCol="0" anchor="t"/>
          <a:lstStyle/>
          <a:p>
            <a:pPr marL="0" indent="0" algn="l">
              <a:lnSpc>
                <a:spcPts val="1300"/>
              </a:lnSpc>
              <a:buNone/>
            </a:pPr>
            <a:r>
              <a:rPr lang="en-US" sz="800" dirty="0">
                <a:solidFill>
                  <a:srgbClr val="000000"/>
                </a:solidFill>
                <a:latin typeface="Nunito Sans" pitchFamily="34" charset="0"/>
                <a:ea typeface="Nunito Sans" pitchFamily="34" charset="-122"/>
                <a:cs typeface="Nunito Sans" pitchFamily="34" charset="-120"/>
              </a:rPr>
              <a:t>Tìm kiếm bằng </a:t>
            </a:r>
            <a:r>
              <a:rPr lang="en-US" sz="800" b="1" dirty="0">
                <a:solidFill>
                  <a:srgbClr val="000000"/>
                </a:solidFill>
                <a:latin typeface="Nunito Sans" pitchFamily="34" charset="0"/>
                <a:ea typeface="Nunito Sans" pitchFamily="34" charset="-122"/>
                <a:cs typeface="Nunito Sans" pitchFamily="34" charset="-120"/>
              </a:rPr>
              <a:t>Cosine Similarity</a:t>
            </a:r>
            <a:r>
              <a:rPr lang="en-US" sz="800" dirty="0">
                <a:solidFill>
                  <a:srgbClr val="000000"/>
                </a:solidFill>
                <a:latin typeface="Nunito Sans" pitchFamily="34" charset="0"/>
                <a:ea typeface="Nunito Sans" pitchFamily="34" charset="-122"/>
                <a:cs typeface="Nunito Sans" pitchFamily="34" charset="-120"/>
              </a:rPr>
              <a:t> giữa Query Dense Vector và các chunk vectors trong database.</a:t>
            </a:r>
            <a:endParaRPr lang="en-US" sz="800" dirty="0"/>
          </a:p>
        </p:txBody>
      </p:sp>
      <p:sp>
        <p:nvSpPr>
          <p:cNvPr id="8" name="Text 6"/>
          <p:cNvSpPr/>
          <p:nvPr/>
        </p:nvSpPr>
        <p:spPr>
          <a:xfrm>
            <a:off x="590788" y="1862852"/>
            <a:ext cx="5771912" cy="169545"/>
          </a:xfrm>
          <a:prstGeom prst="rect">
            <a:avLst/>
          </a:prstGeom>
          <a:noFill/>
          <a:ln/>
        </p:spPr>
        <p:txBody>
          <a:bodyPr wrap="none" lIns="0" tIns="0" rIns="0" bIns="0" rtlCol="0" anchor="t"/>
          <a:lstStyle/>
          <a:p>
            <a:pPr marL="0" indent="0" algn="l">
              <a:lnSpc>
                <a:spcPts val="1300"/>
              </a:lnSpc>
              <a:buNone/>
            </a:pPr>
            <a:r>
              <a:rPr lang="en-US" sz="800" b="1" dirty="0">
                <a:solidFill>
                  <a:srgbClr val="000000"/>
                </a:solidFill>
                <a:latin typeface="Nunito Sans" pitchFamily="34" charset="0"/>
                <a:ea typeface="Nunito Sans" pitchFamily="34" charset="-122"/>
                <a:cs typeface="Nunito Sans" pitchFamily="34" charset="-120"/>
              </a:rPr>
              <a:t>Ưu tiên:</a:t>
            </a:r>
            <a:r>
              <a:rPr lang="en-US" sz="800" dirty="0">
                <a:solidFill>
                  <a:srgbClr val="000000"/>
                </a:solidFill>
                <a:latin typeface="Nunito Sans" pitchFamily="34" charset="0"/>
                <a:ea typeface="Nunito Sans" pitchFamily="34" charset="-122"/>
                <a:cs typeface="Nunito Sans" pitchFamily="34" charset="-120"/>
              </a:rPr>
              <a:t> Ý nghĩa tương đồng, ngữ cảnh phù hợp</a:t>
            </a:r>
            <a:endParaRPr lang="en-US" sz="800" dirty="0"/>
          </a:p>
        </p:txBody>
      </p:sp>
      <p:sp>
        <p:nvSpPr>
          <p:cNvPr id="9" name="Shape 7"/>
          <p:cNvSpPr/>
          <p:nvPr/>
        </p:nvSpPr>
        <p:spPr>
          <a:xfrm>
            <a:off x="423862" y="2259568"/>
            <a:ext cx="6060043" cy="948452"/>
          </a:xfrm>
          <a:prstGeom prst="roundRect">
            <a:avLst>
              <a:gd name="adj" fmla="val 7713"/>
            </a:avLst>
          </a:prstGeom>
          <a:solidFill>
            <a:srgbClr val="FFFFFF"/>
          </a:solidFill>
          <a:ln w="15240">
            <a:solidFill>
              <a:srgbClr val="70B603"/>
            </a:solidFill>
            <a:prstDash val="solid"/>
          </a:ln>
        </p:spPr>
        <p:txBody>
          <a:bodyPr/>
          <a:lstStyle/>
          <a:p>
            <a:endParaRPr lang="en-US"/>
          </a:p>
        </p:txBody>
      </p:sp>
      <p:sp>
        <p:nvSpPr>
          <p:cNvPr id="10" name="Shape 8"/>
          <p:cNvSpPr/>
          <p:nvPr/>
        </p:nvSpPr>
        <p:spPr>
          <a:xfrm>
            <a:off x="408623" y="2259568"/>
            <a:ext cx="60960" cy="948452"/>
          </a:xfrm>
          <a:prstGeom prst="roundRect">
            <a:avLst>
              <a:gd name="adj" fmla="val 73018"/>
            </a:avLst>
          </a:prstGeom>
          <a:solidFill>
            <a:srgbClr val="70B603"/>
          </a:solidFill>
          <a:ln/>
        </p:spPr>
        <p:txBody>
          <a:bodyPr/>
          <a:lstStyle/>
          <a:p>
            <a:endParaRPr lang="en-US"/>
          </a:p>
        </p:txBody>
      </p:sp>
      <p:sp>
        <p:nvSpPr>
          <p:cNvPr id="11" name="Text 9"/>
          <p:cNvSpPr/>
          <p:nvPr/>
        </p:nvSpPr>
        <p:spPr>
          <a:xfrm>
            <a:off x="590788" y="2380774"/>
            <a:ext cx="1464945" cy="165616"/>
          </a:xfrm>
          <a:prstGeom prst="rect">
            <a:avLst/>
          </a:prstGeom>
          <a:noFill/>
          <a:ln/>
        </p:spPr>
        <p:txBody>
          <a:bodyPr wrap="none" lIns="0" tIns="0" rIns="0" bIns="0" rtlCol="0" anchor="t"/>
          <a:lstStyle/>
          <a:p>
            <a:pPr marL="0" indent="0" algn="l">
              <a:lnSpc>
                <a:spcPts val="1300"/>
              </a:lnSpc>
              <a:buNone/>
            </a:pPr>
            <a:r>
              <a:rPr lang="en-US" sz="1000" b="1" dirty="0">
                <a:solidFill>
                  <a:srgbClr val="000000"/>
                </a:solidFill>
                <a:latin typeface="Nunito Sans Bold" pitchFamily="34" charset="0"/>
                <a:ea typeface="Nunito Sans Bold" pitchFamily="34" charset="-122"/>
                <a:cs typeface="Nunito Sans Bold" pitchFamily="34" charset="-120"/>
              </a:rPr>
              <a:t>Nhánh 2: Sparse Search</a:t>
            </a:r>
            <a:endParaRPr lang="en-US" sz="1000" dirty="0"/>
          </a:p>
        </p:txBody>
      </p:sp>
      <p:sp>
        <p:nvSpPr>
          <p:cNvPr id="12" name="Text 10"/>
          <p:cNvSpPr/>
          <p:nvPr/>
        </p:nvSpPr>
        <p:spPr>
          <a:xfrm>
            <a:off x="590788" y="2652355"/>
            <a:ext cx="5771912" cy="169545"/>
          </a:xfrm>
          <a:prstGeom prst="rect">
            <a:avLst/>
          </a:prstGeom>
          <a:noFill/>
          <a:ln/>
        </p:spPr>
        <p:txBody>
          <a:bodyPr wrap="none" lIns="0" tIns="0" rIns="0" bIns="0" rtlCol="0" anchor="t"/>
          <a:lstStyle/>
          <a:p>
            <a:pPr marL="0" indent="0" algn="l">
              <a:lnSpc>
                <a:spcPts val="1300"/>
              </a:lnSpc>
              <a:buNone/>
            </a:pPr>
            <a:r>
              <a:rPr lang="en-US" sz="800" dirty="0">
                <a:solidFill>
                  <a:srgbClr val="000000"/>
                </a:solidFill>
                <a:latin typeface="Nunito Sans" pitchFamily="34" charset="0"/>
                <a:ea typeface="Nunito Sans" pitchFamily="34" charset="-122"/>
                <a:cs typeface="Nunito Sans" pitchFamily="34" charset="-120"/>
              </a:rPr>
              <a:t>Tìm kiếm bằng </a:t>
            </a:r>
            <a:r>
              <a:rPr lang="en-US" sz="800" b="1" dirty="0">
                <a:solidFill>
                  <a:srgbClr val="000000"/>
                </a:solidFill>
                <a:latin typeface="Nunito Sans" pitchFamily="34" charset="0"/>
                <a:ea typeface="Nunito Sans" pitchFamily="34" charset="-122"/>
                <a:cs typeface="Nunito Sans" pitchFamily="34" charset="-120"/>
              </a:rPr>
              <a:t>BM25 Score</a:t>
            </a:r>
            <a:r>
              <a:rPr lang="en-US" sz="800" dirty="0">
                <a:solidFill>
                  <a:srgbClr val="000000"/>
                </a:solidFill>
                <a:latin typeface="Nunito Sans" pitchFamily="34" charset="0"/>
                <a:ea typeface="Nunito Sans" pitchFamily="34" charset="-122"/>
                <a:cs typeface="Nunito Sans" pitchFamily="34" charset="-120"/>
              </a:rPr>
              <a:t> giữa Query Sparse Vector và sparse vectors trong database.</a:t>
            </a:r>
            <a:endParaRPr lang="en-US" sz="800" dirty="0"/>
          </a:p>
        </p:txBody>
      </p:sp>
      <p:sp>
        <p:nvSpPr>
          <p:cNvPr id="13" name="Text 11"/>
          <p:cNvSpPr/>
          <p:nvPr/>
        </p:nvSpPr>
        <p:spPr>
          <a:xfrm>
            <a:off x="590788" y="2917269"/>
            <a:ext cx="5771912" cy="169545"/>
          </a:xfrm>
          <a:prstGeom prst="rect">
            <a:avLst/>
          </a:prstGeom>
          <a:noFill/>
          <a:ln/>
        </p:spPr>
        <p:txBody>
          <a:bodyPr wrap="none" lIns="0" tIns="0" rIns="0" bIns="0" rtlCol="0" anchor="t"/>
          <a:lstStyle/>
          <a:p>
            <a:pPr marL="0" indent="0" algn="l">
              <a:lnSpc>
                <a:spcPts val="1300"/>
              </a:lnSpc>
              <a:buNone/>
            </a:pPr>
            <a:r>
              <a:rPr lang="en-US" sz="800" b="1" dirty="0">
                <a:solidFill>
                  <a:srgbClr val="000000"/>
                </a:solidFill>
                <a:latin typeface="Nunito Sans" pitchFamily="34" charset="0"/>
                <a:ea typeface="Nunito Sans" pitchFamily="34" charset="-122"/>
                <a:cs typeface="Nunito Sans" pitchFamily="34" charset="-120"/>
              </a:rPr>
              <a:t>Ưu tiên:</a:t>
            </a:r>
            <a:r>
              <a:rPr lang="en-US" sz="800" dirty="0">
                <a:solidFill>
                  <a:srgbClr val="000000"/>
                </a:solidFill>
                <a:latin typeface="Nunito Sans" pitchFamily="34" charset="0"/>
                <a:ea typeface="Nunito Sans" pitchFamily="34" charset="-122"/>
                <a:cs typeface="Nunito Sans" pitchFamily="34" charset="-120"/>
              </a:rPr>
              <a:t> Khớp từ khóa chính xác, thuật ngữ pháp lý</a:t>
            </a:r>
            <a:endParaRPr lang="en-US" sz="800" dirty="0"/>
          </a:p>
        </p:txBody>
      </p:sp>
      <p:sp>
        <p:nvSpPr>
          <p:cNvPr id="15" name="Text 12"/>
          <p:cNvSpPr/>
          <p:nvPr/>
        </p:nvSpPr>
        <p:spPr>
          <a:xfrm>
            <a:off x="6749891" y="887373"/>
            <a:ext cx="2176582" cy="198596"/>
          </a:xfrm>
          <a:prstGeom prst="rect">
            <a:avLst/>
          </a:prstGeom>
          <a:noFill/>
          <a:ln/>
        </p:spPr>
        <p:txBody>
          <a:bodyPr wrap="none" lIns="0" tIns="0" rIns="0" bIns="0" rtlCol="0" anchor="t"/>
          <a:lstStyle/>
          <a:p>
            <a:pPr marL="0" indent="0" algn="l">
              <a:lnSpc>
                <a:spcPts val="1550"/>
              </a:lnSpc>
              <a:buNone/>
            </a:pPr>
            <a:r>
              <a:rPr lang="en-US" sz="1250" b="1" dirty="0">
                <a:solidFill>
                  <a:srgbClr val="000000"/>
                </a:solidFill>
                <a:latin typeface="Nunito Sans Bold" pitchFamily="34" charset="0"/>
                <a:ea typeface="Nunito Sans Bold" pitchFamily="34" charset="-122"/>
                <a:cs typeface="Nunito Sans Bold" pitchFamily="34" charset="-120"/>
              </a:rPr>
              <a:t>Reciprocal Rank Fusion (RRF)</a:t>
            </a:r>
            <a:endParaRPr lang="en-US" sz="1250" dirty="0"/>
          </a:p>
        </p:txBody>
      </p:sp>
      <p:sp>
        <p:nvSpPr>
          <p:cNvPr id="16" name="Text 13"/>
          <p:cNvSpPr/>
          <p:nvPr/>
        </p:nvSpPr>
        <p:spPr>
          <a:xfrm>
            <a:off x="6749891" y="1191935"/>
            <a:ext cx="7464147" cy="169545"/>
          </a:xfrm>
          <a:prstGeom prst="rect">
            <a:avLst/>
          </a:prstGeom>
          <a:noFill/>
          <a:ln/>
        </p:spPr>
        <p:txBody>
          <a:bodyPr wrap="none" lIns="0" tIns="0" rIns="0" bIns="0" rtlCol="0" anchor="t"/>
          <a:lstStyle/>
          <a:p>
            <a:pPr marL="0" indent="0" algn="l">
              <a:lnSpc>
                <a:spcPts val="1300"/>
              </a:lnSpc>
              <a:buNone/>
            </a:pPr>
            <a:r>
              <a:rPr lang="en-US" sz="800" dirty="0">
                <a:solidFill>
                  <a:srgbClr val="000000"/>
                </a:solidFill>
                <a:latin typeface="Nunito Sans" pitchFamily="34" charset="0"/>
                <a:ea typeface="Nunito Sans" pitchFamily="34" charset="-122"/>
                <a:cs typeface="Nunito Sans" pitchFamily="34" charset="-120"/>
              </a:rPr>
              <a:t>Làm thế nào để tổng hợp 2 danh sách kết quả có </a:t>
            </a:r>
            <a:r>
              <a:rPr lang="en-US" sz="800" b="1" dirty="0">
                <a:solidFill>
                  <a:srgbClr val="000000"/>
                </a:solidFill>
                <a:latin typeface="Nunito Sans" pitchFamily="34" charset="0"/>
                <a:ea typeface="Nunito Sans" pitchFamily="34" charset="-122"/>
                <a:cs typeface="Nunito Sans" pitchFamily="34" charset="-120"/>
              </a:rPr>
              <a:t>thang điểm khác nhau</a:t>
            </a:r>
            <a:r>
              <a:rPr lang="en-US" sz="800" dirty="0">
                <a:solidFill>
                  <a:srgbClr val="000000"/>
                </a:solidFill>
                <a:latin typeface="Nunito Sans" pitchFamily="34" charset="0"/>
                <a:ea typeface="Nunito Sans" pitchFamily="34" charset="-122"/>
                <a:cs typeface="Nunito Sans" pitchFamily="34" charset="-120"/>
              </a:rPr>
              <a:t>?</a:t>
            </a:r>
            <a:endParaRPr lang="en-US" sz="800" dirty="0"/>
          </a:p>
        </p:txBody>
      </p:sp>
      <p:sp>
        <p:nvSpPr>
          <p:cNvPr id="17" name="Shape 14"/>
          <p:cNvSpPr/>
          <p:nvPr/>
        </p:nvSpPr>
        <p:spPr>
          <a:xfrm>
            <a:off x="6749891" y="1480661"/>
            <a:ext cx="7464147" cy="450294"/>
          </a:xfrm>
          <a:prstGeom prst="roundRect">
            <a:avLst>
              <a:gd name="adj" fmla="val 9885"/>
            </a:avLst>
          </a:prstGeom>
          <a:solidFill>
            <a:srgbClr val="B7DDFB"/>
          </a:solidFill>
          <a:ln/>
        </p:spPr>
        <p:txBody>
          <a:bodyPr/>
          <a:lstStyle/>
          <a:p>
            <a:endParaRPr lang="en-US"/>
          </a:p>
        </p:txBody>
      </p:sp>
      <p:pic>
        <p:nvPicPr>
          <p:cNvPr id="18" name="Image 1" descr="preencoded.png"/>
          <p:cNvPicPr>
            <a:picLocks noChangeAspect="1"/>
          </p:cNvPicPr>
          <p:nvPr/>
        </p:nvPicPr>
        <p:blipFill>
          <a:blip r:embed="rId3"/>
          <a:stretch>
            <a:fillRect/>
          </a:stretch>
        </p:blipFill>
        <p:spPr>
          <a:xfrm>
            <a:off x="6855857" y="1634609"/>
            <a:ext cx="132398" cy="105966"/>
          </a:xfrm>
          <a:prstGeom prst="rect">
            <a:avLst/>
          </a:prstGeom>
        </p:spPr>
      </p:pic>
      <p:sp>
        <p:nvSpPr>
          <p:cNvPr id="19" name="Text 15"/>
          <p:cNvSpPr/>
          <p:nvPr/>
        </p:nvSpPr>
        <p:spPr>
          <a:xfrm>
            <a:off x="7094220" y="1613059"/>
            <a:ext cx="7013853" cy="169545"/>
          </a:xfrm>
          <a:prstGeom prst="rect">
            <a:avLst/>
          </a:prstGeom>
          <a:noFill/>
          <a:ln/>
        </p:spPr>
        <p:txBody>
          <a:bodyPr wrap="none" lIns="0" tIns="0" rIns="0" bIns="0" rtlCol="0" anchor="t"/>
          <a:lstStyle/>
          <a:p>
            <a:pPr marL="0" indent="0" algn="l">
              <a:lnSpc>
                <a:spcPts val="1300"/>
              </a:lnSpc>
              <a:buNone/>
            </a:pPr>
            <a:r>
              <a:rPr lang="en-US" sz="800" b="1" dirty="0">
                <a:solidFill>
                  <a:srgbClr val="000000"/>
                </a:solidFill>
                <a:latin typeface="Nunito Sans" pitchFamily="34" charset="0"/>
                <a:ea typeface="Nunito Sans" pitchFamily="34" charset="-122"/>
                <a:cs typeface="Nunito Sans" pitchFamily="34" charset="-120"/>
              </a:rPr>
              <a:t>Giải pháp:</a:t>
            </a:r>
            <a:r>
              <a:rPr lang="en-US" sz="800" dirty="0">
                <a:solidFill>
                  <a:srgbClr val="000000"/>
                </a:solidFill>
                <a:latin typeface="Nunito Sans" pitchFamily="34" charset="0"/>
                <a:ea typeface="Nunito Sans" pitchFamily="34" charset="-122"/>
                <a:cs typeface="Nunito Sans" pitchFamily="34" charset="-120"/>
              </a:rPr>
              <a:t> RRF cộng dựa trên </a:t>
            </a:r>
            <a:r>
              <a:rPr lang="en-US" sz="800" b="1" dirty="0">
                <a:solidFill>
                  <a:srgbClr val="000000"/>
                </a:solidFill>
                <a:latin typeface="Nunito Sans" pitchFamily="34" charset="0"/>
                <a:ea typeface="Nunito Sans" pitchFamily="34" charset="-122"/>
                <a:cs typeface="Nunito Sans" pitchFamily="34" charset="-120"/>
              </a:rPr>
              <a:t>Thứ Hạng (Rank)</a:t>
            </a:r>
            <a:r>
              <a:rPr lang="en-US" sz="800" dirty="0">
                <a:solidFill>
                  <a:srgbClr val="000000"/>
                </a:solidFill>
                <a:latin typeface="Nunito Sans" pitchFamily="34" charset="0"/>
                <a:ea typeface="Nunito Sans" pitchFamily="34" charset="-122"/>
                <a:cs typeface="Nunito Sans" pitchFamily="34" charset="-120"/>
              </a:rPr>
              <a:t>, không phải điểm số tuyệt đối</a:t>
            </a:r>
            <a:endParaRPr lang="en-US" sz="800" dirty="0"/>
          </a:p>
        </p:txBody>
      </p:sp>
      <p:sp>
        <p:nvSpPr>
          <p:cNvPr id="20" name="Text 16"/>
          <p:cNvSpPr/>
          <p:nvPr/>
        </p:nvSpPr>
        <p:spPr>
          <a:xfrm>
            <a:off x="6749891" y="2050137"/>
            <a:ext cx="1324689" cy="165616"/>
          </a:xfrm>
          <a:prstGeom prst="rect">
            <a:avLst/>
          </a:prstGeom>
          <a:noFill/>
          <a:ln/>
        </p:spPr>
        <p:txBody>
          <a:bodyPr wrap="none" lIns="0" tIns="0" rIns="0" bIns="0" rtlCol="0" anchor="t"/>
          <a:lstStyle/>
          <a:p>
            <a:pPr marL="0" indent="0" algn="l">
              <a:lnSpc>
                <a:spcPts val="1300"/>
              </a:lnSpc>
              <a:buNone/>
            </a:pPr>
            <a:r>
              <a:rPr lang="en-US" sz="1000" b="1" dirty="0">
                <a:solidFill>
                  <a:srgbClr val="000000"/>
                </a:solidFill>
                <a:latin typeface="Nunito Sans Bold" pitchFamily="34" charset="0"/>
                <a:ea typeface="Nunito Sans Bold" pitchFamily="34" charset="-122"/>
                <a:cs typeface="Nunito Sans Bold" pitchFamily="34" charset="-120"/>
              </a:rPr>
              <a:t>Công Thức RRF</a:t>
            </a:r>
            <a:endParaRPr lang="en-US" sz="1000" dirty="0"/>
          </a:p>
        </p:txBody>
      </p:sp>
      <p:sp>
        <p:nvSpPr>
          <p:cNvPr id="21" name="Text 17"/>
          <p:cNvSpPr/>
          <p:nvPr/>
        </p:nvSpPr>
        <p:spPr>
          <a:xfrm>
            <a:off x="6749891" y="2349818"/>
            <a:ext cx="7464147" cy="330875"/>
          </a:xfrm>
          <a:prstGeom prst="rect">
            <a:avLst/>
          </a:prstGeom>
          <a:noFill/>
          <a:ln/>
        </p:spPr>
        <p:txBody>
          <a:bodyPr wrap="square" lIns="0" tIns="0" rIns="0" bIns="0" rtlCol="0" anchor="t"/>
          <a:lstStyle/>
          <a:p>
            <a:pPr marL="0" indent="0" algn="l">
              <a:lnSpc>
                <a:spcPts val="1500"/>
              </a:lnSpc>
              <a:buNone/>
            </a:pPr>
            <a:endParaRPr lang="en-US" sz="900" dirty="0"/>
          </a:p>
        </p:txBody>
      </p:sp>
      <p:pic>
        <p:nvPicPr>
          <p:cNvPr id="22" name="Image 2" descr="preencoded.png"/>
          <p:cNvPicPr>
            <a:picLocks noChangeAspect="1"/>
          </p:cNvPicPr>
          <p:nvPr/>
        </p:nvPicPr>
        <p:blipFill>
          <a:blip r:embed="rId4"/>
          <a:stretch>
            <a:fillRect/>
          </a:stretch>
        </p:blipFill>
        <p:spPr>
          <a:xfrm>
            <a:off x="6749891" y="2349818"/>
            <a:ext cx="7464147" cy="330875"/>
          </a:xfrm>
          <a:prstGeom prst="rect">
            <a:avLst/>
          </a:prstGeom>
        </p:spPr>
      </p:pic>
      <p:sp>
        <p:nvSpPr>
          <p:cNvPr id="23" name="Text 18"/>
          <p:cNvSpPr/>
          <p:nvPr/>
        </p:nvSpPr>
        <p:spPr>
          <a:xfrm>
            <a:off x="6749891" y="2814757"/>
            <a:ext cx="7464147" cy="169545"/>
          </a:xfrm>
          <a:prstGeom prst="rect">
            <a:avLst/>
          </a:prstGeom>
          <a:noFill/>
          <a:ln/>
        </p:spPr>
        <p:txBody>
          <a:bodyPr wrap="none" lIns="0" tIns="0" rIns="0" bIns="0" rtlCol="0" anchor="t"/>
          <a:lstStyle/>
          <a:p>
            <a:pPr marL="0" indent="0" algn="l">
              <a:lnSpc>
                <a:spcPts val="1300"/>
              </a:lnSpc>
              <a:buNone/>
            </a:pPr>
            <a:r>
              <a:rPr lang="en-US" sz="800" dirty="0">
                <a:solidFill>
                  <a:srgbClr val="000000"/>
                </a:solidFill>
                <a:latin typeface="Nunito Sans" pitchFamily="34" charset="0"/>
                <a:ea typeface="Nunito Sans" pitchFamily="34" charset="-122"/>
                <a:cs typeface="Nunito Sans" pitchFamily="34" charset="-120"/>
              </a:rPr>
              <a:t>Trong đó </a:t>
            </a:r>
            <a:r>
              <a:rPr lang="en-US" sz="800" b="1" dirty="0">
                <a:solidFill>
                  <a:srgbClr val="000000"/>
                </a:solidFill>
                <a:latin typeface="Nunito Sans" pitchFamily="34" charset="0"/>
                <a:ea typeface="Nunito Sans" pitchFamily="34" charset="-122"/>
                <a:cs typeface="Nunito Sans" pitchFamily="34" charset="-120"/>
              </a:rPr>
              <a:t>k</a:t>
            </a:r>
            <a:r>
              <a:rPr lang="en-US" sz="800" dirty="0">
                <a:solidFill>
                  <a:srgbClr val="000000"/>
                </a:solidFill>
                <a:latin typeface="Nunito Sans" pitchFamily="34" charset="0"/>
                <a:ea typeface="Nunito Sans" pitchFamily="34" charset="-122"/>
                <a:cs typeface="Nunito Sans" pitchFamily="34" charset="-120"/>
              </a:rPr>
              <a:t> là hằng số (thường = 60)</a:t>
            </a:r>
            <a:endParaRPr lang="en-US" sz="800" dirty="0"/>
          </a:p>
        </p:txBody>
      </p:sp>
      <p:sp>
        <p:nvSpPr>
          <p:cNvPr id="24" name="Text 19"/>
          <p:cNvSpPr/>
          <p:nvPr/>
        </p:nvSpPr>
        <p:spPr>
          <a:xfrm>
            <a:off x="6749891" y="3090267"/>
            <a:ext cx="1324689" cy="165616"/>
          </a:xfrm>
          <a:prstGeom prst="rect">
            <a:avLst/>
          </a:prstGeom>
          <a:noFill/>
          <a:ln/>
        </p:spPr>
        <p:txBody>
          <a:bodyPr wrap="none" lIns="0" tIns="0" rIns="0" bIns="0" rtlCol="0" anchor="t"/>
          <a:lstStyle/>
          <a:p>
            <a:pPr marL="0" indent="0" algn="l">
              <a:lnSpc>
                <a:spcPts val="1300"/>
              </a:lnSpc>
              <a:buNone/>
            </a:pPr>
            <a:r>
              <a:rPr lang="en-US" sz="1000" b="1" dirty="0">
                <a:solidFill>
                  <a:srgbClr val="000000"/>
                </a:solidFill>
                <a:latin typeface="Nunito Sans Bold" pitchFamily="34" charset="0"/>
                <a:ea typeface="Nunito Sans Bold" pitchFamily="34" charset="-122"/>
                <a:cs typeface="Nunito Sans Bold" pitchFamily="34" charset="-120"/>
              </a:rPr>
              <a:t>Ý Nghĩa</a:t>
            </a:r>
            <a:endParaRPr lang="en-US" sz="1000" dirty="0"/>
          </a:p>
        </p:txBody>
      </p:sp>
      <p:sp>
        <p:nvSpPr>
          <p:cNvPr id="25" name="Text 20"/>
          <p:cNvSpPr/>
          <p:nvPr/>
        </p:nvSpPr>
        <p:spPr>
          <a:xfrm>
            <a:off x="6749891" y="3361849"/>
            <a:ext cx="7464147" cy="169545"/>
          </a:xfrm>
          <a:prstGeom prst="rect">
            <a:avLst/>
          </a:prstGeom>
          <a:noFill/>
          <a:ln/>
        </p:spPr>
        <p:txBody>
          <a:bodyPr wrap="none" lIns="0" tIns="0" rIns="0" bIns="0" rtlCol="0" anchor="t"/>
          <a:lstStyle/>
          <a:p>
            <a:pPr marL="342900" indent="-342900" algn="l">
              <a:lnSpc>
                <a:spcPts val="1300"/>
              </a:lnSpc>
              <a:buSzPct val="100000"/>
              <a:buChar char="•"/>
            </a:pPr>
            <a:r>
              <a:rPr lang="en-US" sz="800" dirty="0">
                <a:solidFill>
                  <a:srgbClr val="000000"/>
                </a:solidFill>
                <a:latin typeface="Nunito Sans" pitchFamily="34" charset="0"/>
                <a:ea typeface="Nunito Sans" pitchFamily="34" charset="-122"/>
                <a:cs typeface="Nunito Sans" pitchFamily="34" charset="-120"/>
              </a:rPr>
              <a:t>Chunk X đứng </a:t>
            </a:r>
            <a:r>
              <a:rPr lang="en-US" sz="800" b="1" dirty="0">
                <a:solidFill>
                  <a:srgbClr val="000000"/>
                </a:solidFill>
                <a:latin typeface="Nunito Sans" pitchFamily="34" charset="0"/>
                <a:ea typeface="Nunito Sans" pitchFamily="34" charset="-122"/>
                <a:cs typeface="Nunito Sans" pitchFamily="34" charset="-120"/>
              </a:rPr>
              <a:t>Top 1</a:t>
            </a:r>
            <a:r>
              <a:rPr lang="en-US" sz="800" dirty="0">
                <a:solidFill>
                  <a:srgbClr val="000000"/>
                </a:solidFill>
                <a:latin typeface="Nunito Sans" pitchFamily="34" charset="0"/>
                <a:ea typeface="Nunito Sans" pitchFamily="34" charset="-122"/>
                <a:cs typeface="Nunito Sans" pitchFamily="34" charset="-120"/>
              </a:rPr>
              <a:t> cả 2 nhánh → Điểm RRF </a:t>
            </a:r>
            <a:r>
              <a:rPr lang="en-US" sz="800" b="1" dirty="0">
                <a:solidFill>
                  <a:srgbClr val="00AF50"/>
                </a:solidFill>
                <a:latin typeface="Nunito Sans" pitchFamily="34" charset="0"/>
                <a:ea typeface="Nunito Sans" pitchFamily="34" charset="-122"/>
                <a:cs typeface="Nunito Sans" pitchFamily="34" charset="-120"/>
              </a:rPr>
              <a:t>cực cao</a:t>
            </a:r>
            <a:endParaRPr lang="en-US" sz="800" dirty="0"/>
          </a:p>
        </p:txBody>
      </p:sp>
      <p:sp>
        <p:nvSpPr>
          <p:cNvPr id="26" name="Text 21"/>
          <p:cNvSpPr/>
          <p:nvPr/>
        </p:nvSpPr>
        <p:spPr>
          <a:xfrm>
            <a:off x="6749891" y="3568422"/>
            <a:ext cx="7464147" cy="169545"/>
          </a:xfrm>
          <a:prstGeom prst="rect">
            <a:avLst/>
          </a:prstGeom>
          <a:noFill/>
          <a:ln/>
        </p:spPr>
        <p:txBody>
          <a:bodyPr wrap="none" lIns="0" tIns="0" rIns="0" bIns="0" rtlCol="0" anchor="t"/>
          <a:lstStyle/>
          <a:p>
            <a:pPr marL="342900" indent="-342900" algn="l">
              <a:lnSpc>
                <a:spcPts val="1300"/>
              </a:lnSpc>
              <a:buSzPct val="100000"/>
              <a:buChar char="•"/>
            </a:pPr>
            <a:r>
              <a:rPr lang="en-US" sz="800" dirty="0">
                <a:solidFill>
                  <a:srgbClr val="000000"/>
                </a:solidFill>
                <a:latin typeface="Nunito Sans" pitchFamily="34" charset="0"/>
                <a:ea typeface="Nunito Sans" pitchFamily="34" charset="-122"/>
                <a:cs typeface="Nunito Sans" pitchFamily="34" charset="-120"/>
              </a:rPr>
              <a:t>Chunk Y chỉ Top 1 Dense nhưng </a:t>
            </a:r>
            <a:r>
              <a:rPr lang="en-US" sz="800" b="1" dirty="0">
                <a:solidFill>
                  <a:srgbClr val="000000"/>
                </a:solidFill>
                <a:latin typeface="Nunito Sans" pitchFamily="34" charset="0"/>
                <a:ea typeface="Nunito Sans" pitchFamily="34" charset="-122"/>
                <a:cs typeface="Nunito Sans" pitchFamily="34" charset="-120"/>
              </a:rPr>
              <a:t>mất tích</a:t>
            </a:r>
            <a:r>
              <a:rPr lang="en-US" sz="800" dirty="0">
                <a:solidFill>
                  <a:srgbClr val="000000"/>
                </a:solidFill>
                <a:latin typeface="Nunito Sans" pitchFamily="34" charset="0"/>
                <a:ea typeface="Nunito Sans" pitchFamily="34" charset="-122"/>
                <a:cs typeface="Nunito Sans" pitchFamily="34" charset="-120"/>
              </a:rPr>
              <a:t> ở Sparse → Điểm bị </a:t>
            </a:r>
            <a:r>
              <a:rPr lang="en-US" sz="800" b="1" dirty="0">
                <a:solidFill>
                  <a:srgbClr val="0A5FA3"/>
                </a:solidFill>
                <a:latin typeface="Nunito Sans" pitchFamily="34" charset="0"/>
                <a:ea typeface="Nunito Sans" pitchFamily="34" charset="-122"/>
                <a:cs typeface="Nunito Sans" pitchFamily="34" charset="-120"/>
              </a:rPr>
              <a:t>kéo xuống</a:t>
            </a:r>
            <a:endParaRPr lang="en-US" sz="800" dirty="0"/>
          </a:p>
        </p:txBody>
      </p:sp>
      <p:sp>
        <p:nvSpPr>
          <p:cNvPr id="27" name="Text 22"/>
          <p:cNvSpPr/>
          <p:nvPr/>
        </p:nvSpPr>
        <p:spPr>
          <a:xfrm>
            <a:off x="6749891" y="3774996"/>
            <a:ext cx="7464147" cy="169545"/>
          </a:xfrm>
          <a:prstGeom prst="rect">
            <a:avLst/>
          </a:prstGeom>
          <a:noFill/>
          <a:ln/>
        </p:spPr>
        <p:txBody>
          <a:bodyPr wrap="none" lIns="0" tIns="0" rIns="0" bIns="0" rtlCol="0" anchor="t"/>
          <a:lstStyle/>
          <a:p>
            <a:pPr marL="342900" indent="-342900" algn="l">
              <a:lnSpc>
                <a:spcPts val="1300"/>
              </a:lnSpc>
              <a:buSzPct val="100000"/>
              <a:buChar char="•"/>
            </a:pPr>
            <a:r>
              <a:rPr lang="en-US" sz="800" dirty="0">
                <a:solidFill>
                  <a:srgbClr val="000000"/>
                </a:solidFill>
                <a:latin typeface="Nunito Sans" pitchFamily="34" charset="0"/>
                <a:ea typeface="Nunito Sans" pitchFamily="34" charset="-122"/>
                <a:cs typeface="Nunito Sans" pitchFamily="34" charset="-120"/>
              </a:rPr>
              <a:t>Chunk Z đứng Top 3 cả 2 nhánh → Điểm </a:t>
            </a:r>
            <a:r>
              <a:rPr lang="en-US" sz="800" b="1" dirty="0">
                <a:solidFill>
                  <a:srgbClr val="70B603"/>
                </a:solidFill>
                <a:latin typeface="Nunito Sans" pitchFamily="34" charset="0"/>
                <a:ea typeface="Nunito Sans" pitchFamily="34" charset="-122"/>
                <a:cs typeface="Nunito Sans" pitchFamily="34" charset="-120"/>
              </a:rPr>
              <a:t>ổn định, đáng tin</a:t>
            </a:r>
            <a:endParaRPr lang="en-US" sz="800" dirty="0"/>
          </a:p>
        </p:txBody>
      </p:sp>
      <p:sp>
        <p:nvSpPr>
          <p:cNvPr id="28" name="Text 23"/>
          <p:cNvSpPr/>
          <p:nvPr/>
        </p:nvSpPr>
        <p:spPr>
          <a:xfrm>
            <a:off x="6749891" y="4050506"/>
            <a:ext cx="1324689" cy="165616"/>
          </a:xfrm>
          <a:prstGeom prst="rect">
            <a:avLst/>
          </a:prstGeom>
          <a:noFill/>
          <a:ln/>
        </p:spPr>
        <p:txBody>
          <a:bodyPr wrap="none" lIns="0" tIns="0" rIns="0" bIns="0" rtlCol="0" anchor="t"/>
          <a:lstStyle/>
          <a:p>
            <a:pPr marL="0" indent="0" algn="l">
              <a:lnSpc>
                <a:spcPts val="1300"/>
              </a:lnSpc>
              <a:buNone/>
            </a:pPr>
            <a:r>
              <a:rPr lang="en-US" sz="1000" b="1" dirty="0">
                <a:solidFill>
                  <a:srgbClr val="000000"/>
                </a:solidFill>
                <a:latin typeface="Nunito Sans Bold" pitchFamily="34" charset="0"/>
                <a:ea typeface="Nunito Sans Bold" pitchFamily="34" charset="-122"/>
                <a:cs typeface="Nunito Sans Bold" pitchFamily="34" charset="-120"/>
              </a:rPr>
              <a:t>Kết Quả</a:t>
            </a:r>
            <a:endParaRPr lang="en-US" sz="1000" dirty="0"/>
          </a:p>
        </p:txBody>
      </p:sp>
      <p:sp>
        <p:nvSpPr>
          <p:cNvPr id="29" name="Text 24"/>
          <p:cNvSpPr/>
          <p:nvPr/>
        </p:nvSpPr>
        <p:spPr>
          <a:xfrm>
            <a:off x="6749891" y="4322088"/>
            <a:ext cx="7464147" cy="169545"/>
          </a:xfrm>
          <a:prstGeom prst="rect">
            <a:avLst/>
          </a:prstGeom>
          <a:noFill/>
          <a:ln/>
        </p:spPr>
        <p:txBody>
          <a:bodyPr wrap="none" lIns="0" tIns="0" rIns="0" bIns="0" rtlCol="0" anchor="t"/>
          <a:lstStyle/>
          <a:p>
            <a:pPr marL="0" indent="0" algn="l">
              <a:lnSpc>
                <a:spcPts val="1300"/>
              </a:lnSpc>
              <a:buNone/>
            </a:pPr>
            <a:r>
              <a:rPr lang="en-US" sz="800" dirty="0">
                <a:solidFill>
                  <a:srgbClr val="000000"/>
                </a:solidFill>
                <a:latin typeface="Nunito Sans" pitchFamily="34" charset="0"/>
                <a:ea typeface="Nunito Sans" pitchFamily="34" charset="-122"/>
                <a:cs typeface="Nunito Sans" pitchFamily="34" charset="-120"/>
              </a:rPr>
              <a:t>Hệ thống chọn được văn bản </a:t>
            </a:r>
            <a:r>
              <a:rPr lang="en-US" sz="800" b="1" dirty="0">
                <a:solidFill>
                  <a:srgbClr val="000000"/>
                </a:solidFill>
                <a:highlight>
                  <a:srgbClr val="FFEB3B"/>
                </a:highlight>
                <a:latin typeface="Nunito Sans" pitchFamily="34" charset="0"/>
                <a:ea typeface="Nunito Sans" pitchFamily="34" charset="-122"/>
                <a:cs typeface="Nunito Sans" pitchFamily="34" charset="-120"/>
              </a:rPr>
              <a:t>"Vừa đúng ý, vừa đúng từ"</a:t>
            </a:r>
            <a:r>
              <a:rPr lang="en-US" sz="800" dirty="0">
                <a:solidFill>
                  <a:srgbClr val="000000"/>
                </a:solidFill>
                <a:latin typeface="Nunito Sans" pitchFamily="34" charset="0"/>
                <a:ea typeface="Nunito Sans" pitchFamily="34" charset="-122"/>
                <a:cs typeface="Nunito Sans" pitchFamily="34" charset="-120"/>
              </a:rPr>
              <a:t> - đảm bảo độ chính xác tuyệt đối cho văn bản pháp luật.</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TotalTime>
  <Words>1619</Words>
  <Application>Microsoft Office PowerPoint</Application>
  <PresentationFormat>Custom</PresentationFormat>
  <Paragraphs>172</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Nunito Sans Light</vt:lpstr>
      <vt:lpstr>Arial</vt:lpstr>
      <vt:lpstr>Nunito Sans</vt:lpstr>
      <vt:lpstr>Nunito Sans Bold</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Bui Quang Dan</dc:creator>
  <cp:lastModifiedBy>Bui Quang Dan</cp:lastModifiedBy>
  <cp:revision>8</cp:revision>
  <dcterms:created xsi:type="dcterms:W3CDTF">2025-12-28T03:16:26Z</dcterms:created>
  <dcterms:modified xsi:type="dcterms:W3CDTF">2025-12-31T11:50:31Z</dcterms:modified>
</cp:coreProperties>
</file>